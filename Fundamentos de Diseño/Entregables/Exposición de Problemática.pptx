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DM Sans Bold" charset="1" panose="00000000000000000000"/>
      <p:regular r:id="rId18"/>
    </p:embeddedFont>
    <p:embeddedFont>
      <p:font typeface="DM Sans" charset="1" panose="00000000000000000000"/>
      <p:regular r:id="rId19"/>
    </p:embeddedFont>
    <p:embeddedFont>
      <p:font typeface="Times New Roman MT" charset="1" panose="02030502070405020303"/>
      <p:regular r:id="rId20"/>
    </p:embeddedFont>
    <p:embeddedFont>
      <p:font typeface="Gill Sans Condensed" charset="1" panose="020B0606020104020203"/>
      <p:regular r:id="rId21"/>
    </p:embeddedFont>
    <p:embeddedFont>
      <p:font typeface="TT Chocolates" charset="1" panose="02000503020000020003"/>
      <p:regular r:id="rId22"/>
    </p:embeddedFont>
    <p:embeddedFont>
      <p:font typeface="TT Chocolates Bold" charset="1" panose="020008030200000200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https://www.gob.pe/institucion/ana/noticias/1107626-ana-pone-en-marcha-politica-de-uso-de-aguas-subterraneas-para-combatir-estres-hidrico?utm_source=chatgpt.com"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gob.pe/institucion/sunass/noticias/1350994"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https://www.gob.pe/institucion/sunass/noticias/1350994"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miraflores.gob.pe" TargetMode="External" Type="http://schemas.openxmlformats.org/officeDocument/2006/relationships/hyperlink"/><Relationship Id="rId3" Target="https://www.miraflores.gob.pe" TargetMode="External" Type="http://schemas.openxmlformats.org/officeDocument/2006/relationships/hyperlink"/><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https://sdgs.un.org/goals/goal11"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https://sdgs.un.org/goals/goal6" TargetMode="External" Type="http://schemas.openxmlformats.org/officeDocument/2006/relationships/hyperlink"/><Relationship Id="rId3" Target="https://sdgs.un.org/goals/goal9"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gob.pe/institucion/ana/noticias/1107626-ana-pone-en-marcha-politica-de-uso-de-aguas-subterraneas-para-combatir-estres-hidrico" TargetMode="External" Type="http://schemas.openxmlformats.org/officeDocument/2006/relationships/hyperlink"/><Relationship Id="rId3" Target="https://www.gob.pe/institucion/sunass/noticias/1350994-consumo-promedio-de-agua-potable-en-lima-es-de-134-litros-al-dia-por-persona-con-tendencia-decreciente-de-13-litros-en-la-ultima-decada" TargetMode="External" Type="http://schemas.openxmlformats.org/officeDocument/2006/relationships/hyperlink"/><Relationship Id="rId4" Target="https://www.miraflores.gob.pe/miraflores-redujo-uso-de-agua-potable-para-el-riego-de-parques-y-jardines/" TargetMode="External" Type="http://schemas.openxmlformats.org/officeDocument/2006/relationships/hyperlink"/><Relationship Id="rId5" Target="https://sdgs.un.org/goals/goal11" TargetMode="External" Type="http://schemas.openxmlformats.org/officeDocument/2006/relationships/hyperlink"/><Relationship Id="rId6" Target="https://sdgs.un.org/goals/goal6" TargetMode="External" Type="http://schemas.openxmlformats.org/officeDocument/2006/relationships/hyperlink"/><Relationship Id="rId7" Target="https://sdgs.un.org/goals/goal9"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24140" y="606212"/>
            <a:ext cx="14839720" cy="9074575"/>
            <a:chOff x="0" y="0"/>
            <a:chExt cx="4349566" cy="2659785"/>
          </a:xfrm>
        </p:grpSpPr>
        <p:sp>
          <p:nvSpPr>
            <p:cNvPr name="Freeform 3" id="3"/>
            <p:cNvSpPr/>
            <p:nvPr/>
          </p:nvSpPr>
          <p:spPr>
            <a:xfrm flipH="false" flipV="false" rot="0">
              <a:off x="0" y="0"/>
              <a:ext cx="4349566" cy="2659785"/>
            </a:xfrm>
            <a:custGeom>
              <a:avLst/>
              <a:gdLst/>
              <a:ahLst/>
              <a:cxnLst/>
              <a:rect r="r" b="b" t="t" l="l"/>
              <a:pathLst>
                <a:path h="2659785" w="4349566">
                  <a:moveTo>
                    <a:pt x="0" y="0"/>
                  </a:moveTo>
                  <a:lnTo>
                    <a:pt x="4349566" y="0"/>
                  </a:lnTo>
                  <a:lnTo>
                    <a:pt x="4349566" y="2659785"/>
                  </a:lnTo>
                  <a:lnTo>
                    <a:pt x="0" y="2659785"/>
                  </a:lnTo>
                  <a:close/>
                </a:path>
              </a:pathLst>
            </a:custGeom>
            <a:ln w="66675" cap="sq">
              <a:solidFill>
                <a:srgbClr val="8FA4E1"/>
              </a:solidFill>
              <a:prstDash val="solid"/>
              <a:miter/>
            </a:ln>
          </p:spPr>
        </p:sp>
        <p:sp>
          <p:nvSpPr>
            <p:cNvPr name="TextBox 4" id="4"/>
            <p:cNvSpPr txBox="true"/>
            <p:nvPr/>
          </p:nvSpPr>
          <p:spPr>
            <a:xfrm>
              <a:off x="0" y="-38100"/>
              <a:ext cx="4349566" cy="269788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140037" y="3002312"/>
            <a:ext cx="16007927" cy="4282376"/>
          </a:xfrm>
          <a:prstGeom prst="rect">
            <a:avLst/>
          </a:prstGeom>
          <a:solidFill>
            <a:srgbClr val="CFDBFF"/>
          </a:solidFill>
        </p:spPr>
      </p:sp>
      <p:sp>
        <p:nvSpPr>
          <p:cNvPr name="AutoShape 6" id="6"/>
          <p:cNvSpPr/>
          <p:nvPr/>
        </p:nvSpPr>
        <p:spPr>
          <a:xfrm rot="0">
            <a:off x="13385822" y="8800273"/>
            <a:ext cx="2773182" cy="264496"/>
          </a:xfrm>
          <a:prstGeom prst="rect">
            <a:avLst/>
          </a:prstGeom>
          <a:solidFill>
            <a:srgbClr val="CFDBFF"/>
          </a:solidFill>
        </p:spPr>
      </p:sp>
      <p:sp>
        <p:nvSpPr>
          <p:cNvPr name="TextBox 7" id="7"/>
          <p:cNvSpPr txBox="true"/>
          <p:nvPr/>
        </p:nvSpPr>
        <p:spPr>
          <a:xfrm rot="0">
            <a:off x="13507145" y="8808696"/>
            <a:ext cx="2574118" cy="238125"/>
          </a:xfrm>
          <a:prstGeom prst="rect">
            <a:avLst/>
          </a:prstGeom>
        </p:spPr>
        <p:txBody>
          <a:bodyPr anchor="t" rtlCol="false" tIns="0" lIns="0" bIns="0" rIns="0">
            <a:spAutoFit/>
          </a:bodyPr>
          <a:lstStyle/>
          <a:p>
            <a:pPr algn="r">
              <a:lnSpc>
                <a:spcPts val="1808"/>
              </a:lnSpc>
            </a:pPr>
            <a:r>
              <a:rPr lang="en-US" b="true" sz="1506" spc="97">
                <a:solidFill>
                  <a:srgbClr val="000000"/>
                </a:solidFill>
                <a:latin typeface="DM Sans Bold"/>
                <a:ea typeface="DM Sans Bold"/>
                <a:cs typeface="DM Sans Bold"/>
                <a:sym typeface="DM Sans Bold"/>
              </a:rPr>
              <a:t>ASIGNATURA:</a:t>
            </a:r>
          </a:p>
        </p:txBody>
      </p:sp>
      <p:sp>
        <p:nvSpPr>
          <p:cNvPr name="TextBox 8" id="8"/>
          <p:cNvSpPr txBox="true"/>
          <p:nvPr/>
        </p:nvSpPr>
        <p:spPr>
          <a:xfrm rot="0">
            <a:off x="13143803" y="9163050"/>
            <a:ext cx="3015201" cy="281550"/>
          </a:xfrm>
          <a:prstGeom prst="rect">
            <a:avLst/>
          </a:prstGeom>
        </p:spPr>
        <p:txBody>
          <a:bodyPr anchor="t" rtlCol="false" tIns="0" lIns="0" bIns="0" rIns="0">
            <a:spAutoFit/>
          </a:bodyPr>
          <a:lstStyle/>
          <a:p>
            <a:pPr algn="r" marL="0" indent="0" lvl="0">
              <a:lnSpc>
                <a:spcPts val="2331"/>
              </a:lnSpc>
              <a:spcBef>
                <a:spcPct val="0"/>
              </a:spcBef>
            </a:pPr>
            <a:r>
              <a:rPr lang="en-US" sz="1665" spc="34">
                <a:solidFill>
                  <a:srgbClr val="000000"/>
                </a:solidFill>
                <a:latin typeface="DM Sans"/>
                <a:ea typeface="DM Sans"/>
                <a:cs typeface="DM Sans"/>
                <a:sym typeface="DM Sans"/>
              </a:rPr>
              <a:t>FUNDAMENTOS DE DISEÑO</a:t>
            </a:r>
          </a:p>
        </p:txBody>
      </p:sp>
      <p:sp>
        <p:nvSpPr>
          <p:cNvPr name="AutoShape 9" id="9"/>
          <p:cNvSpPr/>
          <p:nvPr/>
        </p:nvSpPr>
        <p:spPr>
          <a:xfrm rot="0">
            <a:off x="1914492" y="7637194"/>
            <a:ext cx="3097835" cy="264496"/>
          </a:xfrm>
          <a:prstGeom prst="rect">
            <a:avLst/>
          </a:prstGeom>
          <a:solidFill>
            <a:srgbClr val="CFDBFF"/>
          </a:solidFill>
        </p:spPr>
      </p:sp>
      <p:sp>
        <p:nvSpPr>
          <p:cNvPr name="TextBox 10" id="10"/>
          <p:cNvSpPr txBox="true"/>
          <p:nvPr/>
        </p:nvSpPr>
        <p:spPr>
          <a:xfrm rot="0">
            <a:off x="1984208" y="7663565"/>
            <a:ext cx="2958401" cy="238125"/>
          </a:xfrm>
          <a:prstGeom prst="rect">
            <a:avLst/>
          </a:prstGeom>
        </p:spPr>
        <p:txBody>
          <a:bodyPr anchor="t" rtlCol="false" tIns="0" lIns="0" bIns="0" rIns="0">
            <a:spAutoFit/>
          </a:bodyPr>
          <a:lstStyle/>
          <a:p>
            <a:pPr algn="l">
              <a:lnSpc>
                <a:spcPts val="1808"/>
              </a:lnSpc>
            </a:pPr>
            <a:r>
              <a:rPr lang="en-US" b="true" sz="1507" spc="97">
                <a:solidFill>
                  <a:srgbClr val="000000"/>
                </a:solidFill>
                <a:latin typeface="DM Sans Bold"/>
                <a:ea typeface="DM Sans Bold"/>
                <a:cs typeface="DM Sans Bold"/>
                <a:sym typeface="DM Sans Bold"/>
              </a:rPr>
              <a:t>REALIZADO POR:</a:t>
            </a:r>
          </a:p>
        </p:txBody>
      </p:sp>
      <p:sp>
        <p:nvSpPr>
          <p:cNvPr name="TextBox 11" id="11"/>
          <p:cNvSpPr txBox="true"/>
          <p:nvPr/>
        </p:nvSpPr>
        <p:spPr>
          <a:xfrm rot="0">
            <a:off x="1984208" y="8057658"/>
            <a:ext cx="3846130" cy="1711626"/>
          </a:xfrm>
          <a:prstGeom prst="rect">
            <a:avLst/>
          </a:prstGeom>
        </p:spPr>
        <p:txBody>
          <a:bodyPr anchor="t" rtlCol="false" tIns="0" lIns="0" bIns="0" rIns="0">
            <a:spAutoFit/>
          </a:bodyPr>
          <a:lstStyle/>
          <a:p>
            <a:pPr algn="l">
              <a:lnSpc>
                <a:spcPts val="2258"/>
              </a:lnSpc>
            </a:pPr>
            <a:r>
              <a:rPr lang="en-US" sz="1613" spc="33" b="true">
                <a:solidFill>
                  <a:srgbClr val="000000"/>
                </a:solidFill>
                <a:latin typeface="DM Sans Bold"/>
                <a:ea typeface="DM Sans Bold"/>
                <a:cs typeface="DM Sans Bold"/>
                <a:sym typeface="DM Sans Bold"/>
              </a:rPr>
              <a:t>Leonel Willians Sotelo Mamani</a:t>
            </a:r>
          </a:p>
          <a:p>
            <a:pPr algn="l" marL="0" indent="0" lvl="0">
              <a:lnSpc>
                <a:spcPts val="2258"/>
              </a:lnSpc>
              <a:spcBef>
                <a:spcPct val="0"/>
              </a:spcBef>
            </a:pPr>
            <a:r>
              <a:rPr lang="en-US" b="true" sz="1613" spc="33" u="none">
                <a:solidFill>
                  <a:srgbClr val="000000"/>
                </a:solidFill>
                <a:latin typeface="DM Sans Bold"/>
                <a:ea typeface="DM Sans Bold"/>
                <a:cs typeface="DM Sans Bold"/>
                <a:sym typeface="DM Sans Bold"/>
              </a:rPr>
              <a:t>Josue Ismael Cardenas Luna</a:t>
            </a:r>
          </a:p>
          <a:p>
            <a:pPr algn="l" marL="0" indent="0" lvl="0">
              <a:lnSpc>
                <a:spcPts val="2258"/>
              </a:lnSpc>
              <a:spcBef>
                <a:spcPct val="0"/>
              </a:spcBef>
            </a:pPr>
            <a:r>
              <a:rPr lang="en-US" b="true" sz="1613" spc="33" u="none">
                <a:solidFill>
                  <a:srgbClr val="000000"/>
                </a:solidFill>
                <a:latin typeface="DM Sans Bold"/>
                <a:ea typeface="DM Sans Bold"/>
                <a:cs typeface="DM Sans Bold"/>
                <a:sym typeface="DM Sans Bold"/>
              </a:rPr>
              <a:t>Leonardo Pedro Espinoza Flores</a:t>
            </a:r>
          </a:p>
          <a:p>
            <a:pPr algn="l" marL="0" indent="0" lvl="0">
              <a:lnSpc>
                <a:spcPts val="2258"/>
              </a:lnSpc>
              <a:spcBef>
                <a:spcPct val="0"/>
              </a:spcBef>
            </a:pPr>
            <a:r>
              <a:rPr lang="en-US" b="true" sz="1613" spc="33" u="none">
                <a:solidFill>
                  <a:srgbClr val="000000"/>
                </a:solidFill>
                <a:latin typeface="DM Sans Bold"/>
                <a:ea typeface="DM Sans Bold"/>
                <a:cs typeface="DM Sans Bold"/>
                <a:sym typeface="DM Sans Bold"/>
              </a:rPr>
              <a:t>Kenneth Samir Ramos Espinoza</a:t>
            </a:r>
          </a:p>
          <a:p>
            <a:pPr algn="l" marL="0" indent="0" lvl="0">
              <a:lnSpc>
                <a:spcPts val="2258"/>
              </a:lnSpc>
              <a:spcBef>
                <a:spcPct val="0"/>
              </a:spcBef>
            </a:pPr>
            <a:r>
              <a:rPr lang="en-US" b="true" sz="1613" spc="33" u="none">
                <a:solidFill>
                  <a:srgbClr val="000000"/>
                </a:solidFill>
                <a:latin typeface="DM Sans Bold"/>
                <a:ea typeface="DM Sans Bold"/>
                <a:cs typeface="DM Sans Bold"/>
                <a:sym typeface="DM Sans Bold"/>
              </a:rPr>
              <a:t>Giordano Valentino Valero Bonifacio</a:t>
            </a:r>
          </a:p>
          <a:p>
            <a:pPr algn="l" marL="0" indent="0" lvl="0">
              <a:lnSpc>
                <a:spcPts val="2258"/>
              </a:lnSpc>
              <a:spcBef>
                <a:spcPct val="0"/>
              </a:spcBef>
            </a:pPr>
          </a:p>
        </p:txBody>
      </p:sp>
      <p:sp>
        <p:nvSpPr>
          <p:cNvPr name="TextBox 12" id="12"/>
          <p:cNvSpPr txBox="true"/>
          <p:nvPr/>
        </p:nvSpPr>
        <p:spPr>
          <a:xfrm rot="0">
            <a:off x="1844775" y="3244569"/>
            <a:ext cx="14650394" cy="4040119"/>
          </a:xfrm>
          <a:prstGeom prst="rect">
            <a:avLst/>
          </a:prstGeom>
        </p:spPr>
        <p:txBody>
          <a:bodyPr anchor="t" rtlCol="false" tIns="0" lIns="0" bIns="0" rIns="0">
            <a:spAutoFit/>
          </a:bodyPr>
          <a:lstStyle/>
          <a:p>
            <a:pPr algn="ctr">
              <a:lnSpc>
                <a:spcPts val="7532"/>
              </a:lnSpc>
            </a:pPr>
            <a:r>
              <a:rPr lang="en-US" sz="8099">
                <a:solidFill>
                  <a:srgbClr val="000000"/>
                </a:solidFill>
                <a:latin typeface="Times New Roman MT"/>
                <a:ea typeface="Times New Roman MT"/>
                <a:cs typeface="Times New Roman MT"/>
                <a:sym typeface="Times New Roman MT"/>
              </a:rPr>
              <a:t>SISTEMA DE </a:t>
            </a:r>
            <a:r>
              <a:rPr lang="en-US" sz="8099">
                <a:solidFill>
                  <a:srgbClr val="000000"/>
                </a:solidFill>
                <a:latin typeface="Times New Roman MT"/>
                <a:ea typeface="Times New Roman MT"/>
                <a:cs typeface="Times New Roman MT"/>
                <a:sym typeface="Times New Roman MT"/>
              </a:rPr>
              <a:t>RIEGO AUTOMATIZADO PARA JARDINES Y PARQUES RESIDENCIALES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2234811" y="1112993"/>
            <a:ext cx="5923238" cy="3222072"/>
            <a:chOff x="0" y="0"/>
            <a:chExt cx="1904541" cy="1036016"/>
          </a:xfrm>
        </p:grpSpPr>
        <p:sp>
          <p:nvSpPr>
            <p:cNvPr name="Freeform 3" id="3"/>
            <p:cNvSpPr/>
            <p:nvPr/>
          </p:nvSpPr>
          <p:spPr>
            <a:xfrm flipH="false" flipV="false" rot="0">
              <a:off x="0" y="0"/>
              <a:ext cx="1904541" cy="1036016"/>
            </a:xfrm>
            <a:custGeom>
              <a:avLst/>
              <a:gdLst/>
              <a:ahLst/>
              <a:cxnLst/>
              <a:rect r="r" b="b" t="t" l="l"/>
              <a:pathLst>
                <a:path h="1036016" w="1904541">
                  <a:moveTo>
                    <a:pt x="0" y="0"/>
                  </a:moveTo>
                  <a:lnTo>
                    <a:pt x="1904541" y="0"/>
                  </a:lnTo>
                  <a:lnTo>
                    <a:pt x="1904541" y="1036016"/>
                  </a:lnTo>
                  <a:lnTo>
                    <a:pt x="0" y="1036016"/>
                  </a:lnTo>
                  <a:close/>
                </a:path>
              </a:pathLst>
            </a:custGeom>
            <a:ln w="66675" cap="sq">
              <a:solidFill>
                <a:srgbClr val="8FA4E1"/>
              </a:solidFill>
              <a:prstDash val="solid"/>
              <a:miter/>
            </a:ln>
          </p:spPr>
        </p:sp>
        <p:sp>
          <p:nvSpPr>
            <p:cNvPr name="TextBox 4" id="4"/>
            <p:cNvSpPr txBox="true"/>
            <p:nvPr/>
          </p:nvSpPr>
          <p:spPr>
            <a:xfrm>
              <a:off x="0" y="-47625"/>
              <a:ext cx="1904541"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324225" y="1570315"/>
            <a:ext cx="7639238" cy="2307429"/>
          </a:xfrm>
          <a:prstGeom prst="rect">
            <a:avLst/>
          </a:prstGeom>
          <a:solidFill>
            <a:srgbClr val="CFDBFF"/>
          </a:solidFill>
        </p:spPr>
      </p:sp>
      <p:grpSp>
        <p:nvGrpSpPr>
          <p:cNvPr name="Group 6" id="6"/>
          <p:cNvGrpSpPr/>
          <p:nvPr/>
        </p:nvGrpSpPr>
        <p:grpSpPr>
          <a:xfrm rot="0">
            <a:off x="1323860" y="5005460"/>
            <a:ext cx="2555250" cy="3612555"/>
            <a:chOff x="0" y="0"/>
            <a:chExt cx="666667" cy="942519"/>
          </a:xfrm>
        </p:grpSpPr>
        <p:sp>
          <p:nvSpPr>
            <p:cNvPr name="Freeform 7" id="7"/>
            <p:cNvSpPr/>
            <p:nvPr/>
          </p:nvSpPr>
          <p:spPr>
            <a:xfrm flipH="false" flipV="false" rot="0">
              <a:off x="0" y="0"/>
              <a:ext cx="666667" cy="942519"/>
            </a:xfrm>
            <a:custGeom>
              <a:avLst/>
              <a:gdLst/>
              <a:ahLst/>
              <a:cxnLst/>
              <a:rect r="r" b="b" t="t" l="l"/>
              <a:pathLst>
                <a:path h="942519" w="666667">
                  <a:moveTo>
                    <a:pt x="0" y="0"/>
                  </a:moveTo>
                  <a:lnTo>
                    <a:pt x="666667" y="0"/>
                  </a:lnTo>
                  <a:lnTo>
                    <a:pt x="666667" y="942519"/>
                  </a:lnTo>
                  <a:lnTo>
                    <a:pt x="0" y="942519"/>
                  </a:lnTo>
                  <a:close/>
                </a:path>
              </a:pathLst>
            </a:custGeom>
            <a:blipFill>
              <a:blip r:embed="rId2"/>
              <a:stretch>
                <a:fillRect l="-21529" t="0" r="-21529" b="-50887"/>
              </a:stretch>
            </a:blipFill>
          </p:spPr>
        </p:sp>
      </p:grpSp>
      <p:sp>
        <p:nvSpPr>
          <p:cNvPr name="AutoShape 8" id="8"/>
          <p:cNvSpPr/>
          <p:nvPr/>
        </p:nvSpPr>
        <p:spPr>
          <a:xfrm rot="0">
            <a:off x="1324225" y="8165883"/>
            <a:ext cx="2554885" cy="1008123"/>
          </a:xfrm>
          <a:prstGeom prst="rect">
            <a:avLst/>
          </a:prstGeom>
          <a:solidFill>
            <a:srgbClr val="CFDBFF"/>
          </a:solidFill>
        </p:spPr>
      </p:sp>
      <p:grpSp>
        <p:nvGrpSpPr>
          <p:cNvPr name="Group 9" id="9"/>
          <p:cNvGrpSpPr/>
          <p:nvPr/>
        </p:nvGrpSpPr>
        <p:grpSpPr>
          <a:xfrm rot="0">
            <a:off x="4408292" y="4995663"/>
            <a:ext cx="2554885" cy="3160423"/>
            <a:chOff x="0" y="0"/>
            <a:chExt cx="666572" cy="824558"/>
          </a:xfrm>
        </p:grpSpPr>
        <p:sp>
          <p:nvSpPr>
            <p:cNvPr name="Freeform 10" id="10"/>
            <p:cNvSpPr/>
            <p:nvPr/>
          </p:nvSpPr>
          <p:spPr>
            <a:xfrm flipH="false" flipV="false" rot="0">
              <a:off x="0" y="0"/>
              <a:ext cx="666572" cy="824558"/>
            </a:xfrm>
            <a:custGeom>
              <a:avLst/>
              <a:gdLst/>
              <a:ahLst/>
              <a:cxnLst/>
              <a:rect r="r" b="b" t="t" l="l"/>
              <a:pathLst>
                <a:path h="824558" w="666572">
                  <a:moveTo>
                    <a:pt x="0" y="0"/>
                  </a:moveTo>
                  <a:lnTo>
                    <a:pt x="666572" y="0"/>
                  </a:lnTo>
                  <a:lnTo>
                    <a:pt x="666572" y="824558"/>
                  </a:lnTo>
                  <a:lnTo>
                    <a:pt x="0" y="824558"/>
                  </a:lnTo>
                  <a:close/>
                </a:path>
              </a:pathLst>
            </a:custGeom>
            <a:blipFill>
              <a:blip r:embed="rId3"/>
              <a:stretch>
                <a:fillRect l="-9443" t="-16841" r="-11002" b="0"/>
              </a:stretch>
            </a:blipFill>
          </p:spPr>
        </p:sp>
      </p:grpSp>
      <p:sp>
        <p:nvSpPr>
          <p:cNvPr name="AutoShape 11" id="11"/>
          <p:cNvSpPr/>
          <p:nvPr/>
        </p:nvSpPr>
        <p:spPr>
          <a:xfrm rot="0">
            <a:off x="4408292" y="8174545"/>
            <a:ext cx="2554885" cy="999462"/>
          </a:xfrm>
          <a:prstGeom prst="rect">
            <a:avLst/>
          </a:prstGeom>
          <a:solidFill>
            <a:srgbClr val="CFDBFF"/>
          </a:solidFill>
        </p:spPr>
      </p:sp>
      <p:grpSp>
        <p:nvGrpSpPr>
          <p:cNvPr name="Group 12" id="12"/>
          <p:cNvGrpSpPr/>
          <p:nvPr/>
        </p:nvGrpSpPr>
        <p:grpSpPr>
          <a:xfrm rot="0">
            <a:off x="7358826" y="5023918"/>
            <a:ext cx="2554885" cy="3150626"/>
            <a:chOff x="0" y="0"/>
            <a:chExt cx="868000" cy="1070397"/>
          </a:xfrm>
        </p:grpSpPr>
        <p:sp>
          <p:nvSpPr>
            <p:cNvPr name="Freeform 13" id="13"/>
            <p:cNvSpPr/>
            <p:nvPr/>
          </p:nvSpPr>
          <p:spPr>
            <a:xfrm flipH="false" flipV="false" rot="0">
              <a:off x="0" y="0"/>
              <a:ext cx="868000" cy="1070397"/>
            </a:xfrm>
            <a:custGeom>
              <a:avLst/>
              <a:gdLst/>
              <a:ahLst/>
              <a:cxnLst/>
              <a:rect r="r" b="b" t="t" l="l"/>
              <a:pathLst>
                <a:path h="1070397" w="868000">
                  <a:moveTo>
                    <a:pt x="0" y="0"/>
                  </a:moveTo>
                  <a:lnTo>
                    <a:pt x="868000" y="0"/>
                  </a:lnTo>
                  <a:lnTo>
                    <a:pt x="868000" y="1070397"/>
                  </a:lnTo>
                  <a:lnTo>
                    <a:pt x="0" y="1070397"/>
                  </a:lnTo>
                  <a:close/>
                </a:path>
              </a:pathLst>
            </a:custGeom>
            <a:blipFill>
              <a:blip r:embed="rId4"/>
              <a:stretch>
                <a:fillRect l="0" t="-14395" r="0" b="-29766"/>
              </a:stretch>
            </a:blipFill>
          </p:spPr>
        </p:sp>
      </p:grpSp>
      <p:sp>
        <p:nvSpPr>
          <p:cNvPr name="AutoShape 14" id="14"/>
          <p:cNvSpPr/>
          <p:nvPr/>
        </p:nvSpPr>
        <p:spPr>
          <a:xfrm rot="0">
            <a:off x="7337376" y="8156086"/>
            <a:ext cx="2576336" cy="999462"/>
          </a:xfrm>
          <a:prstGeom prst="rect">
            <a:avLst/>
          </a:prstGeom>
          <a:solidFill>
            <a:srgbClr val="CFDBFF"/>
          </a:solidFill>
        </p:spPr>
      </p:sp>
      <p:grpSp>
        <p:nvGrpSpPr>
          <p:cNvPr name="Group 15" id="15"/>
          <p:cNvGrpSpPr/>
          <p:nvPr/>
        </p:nvGrpSpPr>
        <p:grpSpPr>
          <a:xfrm rot="0">
            <a:off x="10447111" y="5143500"/>
            <a:ext cx="2554885" cy="3012586"/>
            <a:chOff x="0" y="0"/>
            <a:chExt cx="824358" cy="972040"/>
          </a:xfrm>
        </p:grpSpPr>
        <p:sp>
          <p:nvSpPr>
            <p:cNvPr name="Freeform 16" id="16"/>
            <p:cNvSpPr/>
            <p:nvPr/>
          </p:nvSpPr>
          <p:spPr>
            <a:xfrm flipH="false" flipV="false" rot="0">
              <a:off x="0" y="0"/>
              <a:ext cx="824358" cy="972040"/>
            </a:xfrm>
            <a:custGeom>
              <a:avLst/>
              <a:gdLst/>
              <a:ahLst/>
              <a:cxnLst/>
              <a:rect r="r" b="b" t="t" l="l"/>
              <a:pathLst>
                <a:path h="972040" w="824358">
                  <a:moveTo>
                    <a:pt x="0" y="0"/>
                  </a:moveTo>
                  <a:lnTo>
                    <a:pt x="824358" y="0"/>
                  </a:lnTo>
                  <a:lnTo>
                    <a:pt x="824358" y="972040"/>
                  </a:lnTo>
                  <a:lnTo>
                    <a:pt x="0" y="972040"/>
                  </a:lnTo>
                  <a:close/>
                </a:path>
              </a:pathLst>
            </a:custGeom>
            <a:blipFill>
              <a:blip r:embed="rId5"/>
              <a:stretch>
                <a:fillRect l="-30778" t="0" r="-25961" b="-59574"/>
              </a:stretch>
            </a:blipFill>
          </p:spPr>
        </p:sp>
      </p:grpSp>
      <p:sp>
        <p:nvSpPr>
          <p:cNvPr name="TextBox 17" id="17"/>
          <p:cNvSpPr txBox="true"/>
          <p:nvPr/>
        </p:nvSpPr>
        <p:spPr>
          <a:xfrm rot="0">
            <a:off x="795043" y="8382922"/>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Kenneth Ramos</a:t>
            </a:r>
          </a:p>
        </p:txBody>
      </p:sp>
      <p:sp>
        <p:nvSpPr>
          <p:cNvPr name="TextBox 18" id="18"/>
          <p:cNvSpPr txBox="true"/>
          <p:nvPr/>
        </p:nvSpPr>
        <p:spPr>
          <a:xfrm rot="0">
            <a:off x="3879110" y="8444376"/>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Giordano Valero</a:t>
            </a:r>
          </a:p>
        </p:txBody>
      </p:sp>
      <p:sp>
        <p:nvSpPr>
          <p:cNvPr name="TextBox 19" id="19"/>
          <p:cNvSpPr txBox="true"/>
          <p:nvPr/>
        </p:nvSpPr>
        <p:spPr>
          <a:xfrm rot="0">
            <a:off x="6829644" y="8444376"/>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Leonardo Espinoza</a:t>
            </a:r>
          </a:p>
        </p:txBody>
      </p:sp>
      <p:sp>
        <p:nvSpPr>
          <p:cNvPr name="AutoShape 20" id="20"/>
          <p:cNvSpPr/>
          <p:nvPr/>
        </p:nvSpPr>
        <p:spPr>
          <a:xfrm rot="0">
            <a:off x="13547210" y="8113953"/>
            <a:ext cx="2629064" cy="1008123"/>
          </a:xfrm>
          <a:prstGeom prst="rect">
            <a:avLst/>
          </a:prstGeom>
          <a:solidFill>
            <a:srgbClr val="CFDBFF"/>
          </a:solidFill>
        </p:spPr>
      </p:sp>
      <p:sp>
        <p:nvSpPr>
          <p:cNvPr name="AutoShape 21" id="21"/>
          <p:cNvSpPr/>
          <p:nvPr/>
        </p:nvSpPr>
        <p:spPr>
          <a:xfrm rot="0">
            <a:off x="10442893" y="8156086"/>
            <a:ext cx="2576336" cy="999462"/>
          </a:xfrm>
          <a:prstGeom prst="rect">
            <a:avLst/>
          </a:prstGeom>
          <a:solidFill>
            <a:srgbClr val="CFDBFF"/>
          </a:solidFill>
        </p:spPr>
      </p:sp>
      <p:sp>
        <p:nvSpPr>
          <p:cNvPr name="Freeform 22" id="22"/>
          <p:cNvSpPr/>
          <p:nvPr/>
        </p:nvSpPr>
        <p:spPr>
          <a:xfrm flipH="false" flipV="false" rot="0">
            <a:off x="13632359" y="5143500"/>
            <a:ext cx="2543915" cy="3031045"/>
          </a:xfrm>
          <a:custGeom>
            <a:avLst/>
            <a:gdLst/>
            <a:ahLst/>
            <a:cxnLst/>
            <a:rect r="r" b="b" t="t" l="l"/>
            <a:pathLst>
              <a:path h="3031045" w="2543915">
                <a:moveTo>
                  <a:pt x="0" y="0"/>
                </a:moveTo>
                <a:lnTo>
                  <a:pt x="2543915" y="0"/>
                </a:lnTo>
                <a:lnTo>
                  <a:pt x="2543915" y="3031045"/>
                </a:lnTo>
                <a:lnTo>
                  <a:pt x="0" y="3031045"/>
                </a:lnTo>
                <a:lnTo>
                  <a:pt x="0" y="0"/>
                </a:lnTo>
                <a:close/>
              </a:path>
            </a:pathLst>
          </a:custGeom>
          <a:blipFill>
            <a:blip r:embed="rId6"/>
            <a:stretch>
              <a:fillRect l="-5664" t="0" r="-5664" b="-33806"/>
            </a:stretch>
          </a:blipFill>
        </p:spPr>
      </p:sp>
      <p:sp>
        <p:nvSpPr>
          <p:cNvPr name="TextBox 23" id="23"/>
          <p:cNvSpPr txBox="true"/>
          <p:nvPr/>
        </p:nvSpPr>
        <p:spPr>
          <a:xfrm rot="0">
            <a:off x="1324225" y="1594308"/>
            <a:ext cx="7534066" cy="2092052"/>
          </a:xfrm>
          <a:prstGeom prst="rect">
            <a:avLst/>
          </a:prstGeom>
        </p:spPr>
        <p:txBody>
          <a:bodyPr anchor="t" rtlCol="false" tIns="0" lIns="0" bIns="0" rIns="0">
            <a:spAutoFit/>
          </a:bodyPr>
          <a:lstStyle/>
          <a:p>
            <a:pPr algn="ctr">
              <a:lnSpc>
                <a:spcPts val="15148"/>
              </a:lnSpc>
            </a:pPr>
            <a:r>
              <a:rPr lang="en-US" sz="11476">
                <a:solidFill>
                  <a:srgbClr val="1C1B19"/>
                </a:solidFill>
                <a:latin typeface="Gill Sans Condensed"/>
                <a:ea typeface="Gill Sans Condensed"/>
                <a:cs typeface="Gill Sans Condensed"/>
                <a:sym typeface="Gill Sans Condensed"/>
              </a:rPr>
              <a:t>EQUIPO</a:t>
            </a:r>
          </a:p>
        </p:txBody>
      </p:sp>
      <p:sp>
        <p:nvSpPr>
          <p:cNvPr name="TextBox 24" id="24"/>
          <p:cNvSpPr txBox="true"/>
          <p:nvPr/>
        </p:nvSpPr>
        <p:spPr>
          <a:xfrm rot="0">
            <a:off x="10140225" y="1065368"/>
            <a:ext cx="6305520" cy="2464229"/>
          </a:xfrm>
          <a:prstGeom prst="rect">
            <a:avLst/>
          </a:prstGeom>
        </p:spPr>
        <p:txBody>
          <a:bodyPr anchor="t" rtlCol="false" tIns="0" lIns="0" bIns="0" rIns="0">
            <a:spAutoFit/>
          </a:bodyPr>
          <a:lstStyle/>
          <a:p>
            <a:pPr algn="just" marL="0" indent="0" lvl="0">
              <a:lnSpc>
                <a:spcPts val="2776"/>
              </a:lnSpc>
            </a:pPr>
            <a:r>
              <a:rPr lang="en-US" sz="1983">
                <a:solidFill>
                  <a:srgbClr val="242424"/>
                </a:solidFill>
                <a:latin typeface="TT Chocolates"/>
                <a:ea typeface="TT Chocolates"/>
                <a:cs typeface="TT Chocolates"/>
                <a:sym typeface="TT Chocolates"/>
              </a:rPr>
              <a:t>Somos el equipo 15, y estamos comprometidos con cumplir el objetivo planteado: desarrollar un sistema de riego automatizado que, mediante sensores de humedad y un microcontrolador ESP32, permita gestionar de forma eficiente el agua en jardines y parques residenciales, reduciendo el desperdicio hídrico de los métodos tradicionales.</a:t>
            </a:r>
          </a:p>
        </p:txBody>
      </p:sp>
      <p:sp>
        <p:nvSpPr>
          <p:cNvPr name="TextBox 25" id="25"/>
          <p:cNvSpPr txBox="true"/>
          <p:nvPr/>
        </p:nvSpPr>
        <p:spPr>
          <a:xfrm rot="0">
            <a:off x="9924436" y="8482179"/>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Williams Sotelo</a:t>
            </a:r>
          </a:p>
        </p:txBody>
      </p:sp>
      <p:sp>
        <p:nvSpPr>
          <p:cNvPr name="TextBox 26" id="26"/>
          <p:cNvSpPr txBox="true"/>
          <p:nvPr/>
        </p:nvSpPr>
        <p:spPr>
          <a:xfrm rot="0">
            <a:off x="13055118" y="8482179"/>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Josue Cardenas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sp>
        <p:nvSpPr>
          <p:cNvPr name="Freeform 3" id="3"/>
          <p:cNvSpPr/>
          <p:nvPr/>
        </p:nvSpPr>
        <p:spPr>
          <a:xfrm flipH="false" flipV="false" rot="0">
            <a:off x="4884485" y="3926003"/>
            <a:ext cx="9113037" cy="4767258"/>
          </a:xfrm>
          <a:custGeom>
            <a:avLst/>
            <a:gdLst/>
            <a:ahLst/>
            <a:cxnLst/>
            <a:rect r="r" b="b" t="t" l="l"/>
            <a:pathLst>
              <a:path h="4767258" w="9113037">
                <a:moveTo>
                  <a:pt x="0" y="0"/>
                </a:moveTo>
                <a:lnTo>
                  <a:pt x="9113037" y="0"/>
                </a:lnTo>
                <a:lnTo>
                  <a:pt x="9113037" y="4767258"/>
                </a:lnTo>
                <a:lnTo>
                  <a:pt x="0" y="4767258"/>
                </a:lnTo>
                <a:lnTo>
                  <a:pt x="0" y="0"/>
                </a:lnTo>
                <a:close/>
              </a:path>
            </a:pathLst>
          </a:custGeom>
          <a:blipFill>
            <a:blip r:embed="rId2"/>
            <a:stretch>
              <a:fillRect l="0" t="0" r="0" b="0"/>
            </a:stretch>
          </a:blipFill>
        </p:spPr>
      </p:sp>
      <p:sp>
        <p:nvSpPr>
          <p:cNvPr name="TextBox 4" id="4"/>
          <p:cNvSpPr txBox="true"/>
          <p:nvPr/>
        </p:nvSpPr>
        <p:spPr>
          <a:xfrm rot="0">
            <a:off x="1628332" y="1362075"/>
            <a:ext cx="15625343" cy="3051175"/>
          </a:xfrm>
          <a:prstGeom prst="rect">
            <a:avLst/>
          </a:prstGeom>
        </p:spPr>
        <p:txBody>
          <a:bodyPr anchor="t" rtlCol="false" tIns="0" lIns="0" bIns="0" rIns="0">
            <a:spAutoFit/>
          </a:bodyPr>
          <a:lstStyle/>
          <a:p>
            <a:pPr algn="l">
              <a:lnSpc>
                <a:spcPts val="3499"/>
              </a:lnSpc>
            </a:pPr>
            <a:r>
              <a:rPr lang="en-US" sz="2499">
                <a:solidFill>
                  <a:srgbClr val="242424"/>
                </a:solidFill>
                <a:latin typeface="TT Chocolates"/>
                <a:ea typeface="TT Chocolates"/>
                <a:cs typeface="TT Chocolates"/>
                <a:sym typeface="TT Chocolates"/>
              </a:rPr>
              <a:t>El Perú posee una disponibilidad hídrica muy desigual entre sus vertientes. La vertiente del Pacífico concentra una gran proporción de la población, pero dispone de una proporción mucho menor del agua superficial del país.</a:t>
            </a:r>
          </a:p>
          <a:p>
            <a:pPr algn="l">
              <a:lnSpc>
                <a:spcPts val="3499"/>
              </a:lnSpc>
            </a:pPr>
            <a:r>
              <a:rPr lang="en-US" sz="2499">
                <a:solidFill>
                  <a:srgbClr val="242424"/>
                </a:solidFill>
                <a:latin typeface="TT Chocolates"/>
                <a:ea typeface="TT Chocolates"/>
                <a:cs typeface="TT Chocolates"/>
                <a:sym typeface="TT Chocolates"/>
              </a:rPr>
              <a:t>Según la Autoridad Nacional del Agua: “En la vertiente del Pacífico, donde reside el 66% de la población peruana, solo se tiene acceso al 2.2% del total del agua superficial.” [1]</a:t>
            </a:r>
          </a:p>
          <a:p>
            <a:pPr algn="l" marL="0" indent="0" lvl="0">
              <a:lnSpc>
                <a:spcPts val="3499"/>
              </a:lnSpc>
            </a:pPr>
            <a:r>
              <a:rPr lang="en-US" sz="2499">
                <a:solidFill>
                  <a:srgbClr val="242424"/>
                </a:solidFill>
                <a:latin typeface="TT Chocolates"/>
                <a:ea typeface="TT Chocolates"/>
                <a:cs typeface="TT Chocolates"/>
                <a:sym typeface="TT Chocolates"/>
              </a:rPr>
              <a:t>Esto genera una condición especialmente relevante para las ciudades de la costa, donde la gestión eficiente del agua constituye un desafío</a:t>
            </a:r>
          </a:p>
          <a:p>
            <a:pPr algn="l" marL="0" indent="0" lvl="0">
              <a:lnSpc>
                <a:spcPts val="3499"/>
              </a:lnSpc>
            </a:pPr>
          </a:p>
        </p:txBody>
      </p:sp>
      <p:sp>
        <p:nvSpPr>
          <p:cNvPr name="TextBox 5" id="5"/>
          <p:cNvSpPr txBox="true"/>
          <p:nvPr/>
        </p:nvSpPr>
        <p:spPr>
          <a:xfrm rot="0">
            <a:off x="1628332" y="485775"/>
            <a:ext cx="15630968" cy="923925"/>
          </a:xfrm>
          <a:prstGeom prst="rect">
            <a:avLst/>
          </a:prstGeom>
        </p:spPr>
        <p:txBody>
          <a:bodyPr anchor="t" rtlCol="false" tIns="0" lIns="0" bIns="0" rIns="0">
            <a:spAutoFit/>
          </a:bodyPr>
          <a:lstStyle/>
          <a:p>
            <a:pPr algn="l">
              <a:lnSpc>
                <a:spcPts val="6600"/>
              </a:lnSpc>
            </a:pPr>
            <a:r>
              <a:rPr lang="en-US" sz="5000">
                <a:solidFill>
                  <a:srgbClr val="1C1B19"/>
                </a:solidFill>
                <a:latin typeface="Gill Sans Condensed"/>
                <a:ea typeface="Gill Sans Condensed"/>
                <a:cs typeface="Gill Sans Condensed"/>
                <a:sym typeface="Gill Sans Condensed"/>
              </a:rPr>
              <a:t>EL CONTEXTO HÍDRICO DEL PERÚ</a:t>
            </a:r>
          </a:p>
        </p:txBody>
      </p:sp>
      <p:sp>
        <p:nvSpPr>
          <p:cNvPr name="TextBox 6" id="6"/>
          <p:cNvSpPr txBox="true"/>
          <p:nvPr/>
        </p:nvSpPr>
        <p:spPr>
          <a:xfrm rot="0">
            <a:off x="1628332" y="8895839"/>
            <a:ext cx="16043651" cy="1063625"/>
          </a:xfrm>
          <a:prstGeom prst="rect">
            <a:avLst/>
          </a:prstGeom>
        </p:spPr>
        <p:txBody>
          <a:bodyPr anchor="t" rtlCol="false" tIns="0" lIns="0" bIns="0" rIns="0">
            <a:spAutoFit/>
          </a:bodyPr>
          <a:lstStyle/>
          <a:p>
            <a:pPr algn="l" marL="0" indent="0" lvl="0">
              <a:lnSpc>
                <a:spcPts val="2800"/>
              </a:lnSpc>
            </a:pPr>
            <a:r>
              <a:rPr lang="en-US" sz="2000">
                <a:solidFill>
                  <a:srgbClr val="242424"/>
                </a:solidFill>
                <a:latin typeface="TT Chocolates"/>
                <a:ea typeface="TT Chocolates"/>
                <a:cs typeface="TT Chocolates"/>
                <a:sym typeface="TT Chocolates"/>
              </a:rPr>
              <a:t>[1] Autoridad Nacional del Agua. ANA pone en marcha política de uso de aguas subterráneas para combatir estrés hídrico [Internet]. Lima: Autoridad Nacional del Agua; 2025 [citado 16 sep 2026]. Disponible en: </a:t>
            </a:r>
            <a:r>
              <a:rPr lang="en-US" sz="2000" u="sng">
                <a:solidFill>
                  <a:srgbClr val="242424"/>
                </a:solidFill>
                <a:latin typeface="TT Chocolates"/>
                <a:ea typeface="TT Chocolates"/>
                <a:cs typeface="TT Chocolates"/>
                <a:sym typeface="TT Chocolates"/>
                <a:hlinkClick r:id="rId3" tooltip="https://www.gob.pe/institucion/ana/noticias/1107626-ana-pone-en-marcha-politica-de-uso-de-aguas-subterraneas-para-combatir-estres-hidrico?utm_source=chatgpt.com"/>
              </a:rPr>
              <a:t>https://www.gob.pe/institucion/ana/noticias/1107626-ana-pone-en-marcha-politica-de-uso-de-aguas-subterraneas-para-combatir-estres-hidrico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3444055"/>
          <a:ext cx="7315200" cy="3810000"/>
        </p:xfrm>
        <a:graphic>
          <a:graphicData uri="http://schemas.openxmlformats.org/drawingml/2006/table">
            <a:tbl>
              <a:tblPr/>
              <a:tblGrid>
                <a:gridCol w="3657600"/>
                <a:gridCol w="3657600"/>
              </a:tblGrid>
              <a:tr h="635000">
                <a:tc>
                  <a:txBody>
                    <a:bodyPr anchor="t" rtlCol="false"/>
                    <a:lstStyle/>
                    <a:p>
                      <a:pPr algn="ctr">
                        <a:lnSpc>
                          <a:spcPts val="2800"/>
                        </a:lnSpc>
                        <a:defRPr/>
                      </a:pPr>
                      <a:r>
                        <a:rPr lang="en-US" sz="2000">
                          <a:solidFill>
                            <a:srgbClr val="000000"/>
                          </a:solidFill>
                          <a:latin typeface="DM Sans"/>
                          <a:ea typeface="DM Sans"/>
                          <a:cs typeface="DM Sans"/>
                          <a:sym typeface="DM Sans"/>
                        </a:rPr>
                        <a:t>Distrito</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242424"/>
                      </a:solidFill>
                      <a:prstDash val="solid"/>
                      <a:round/>
                      <a:headEnd type="none" w="med" len="med"/>
                      <a:tailEnd type="none" w="med" len="med"/>
                    </a:lnT>
                    <a:lnB cmpd="sng" algn="ctr" cap="flat" w="38100">
                      <a:solidFill>
                        <a:srgbClr val="242424"/>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DM Sans"/>
                          <a:ea typeface="DM Sans"/>
                          <a:cs typeface="DM Sans"/>
                          <a:sym typeface="DM Sans"/>
                        </a:rPr>
                        <a:t>L/persona/día</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242424"/>
                      </a:solidFill>
                      <a:prstDash val="solid"/>
                      <a:round/>
                      <a:headEnd type="none" w="med" len="med"/>
                      <a:tailEnd type="none" w="med" len="med"/>
                    </a:lnT>
                    <a:lnB cmpd="sng" algn="ctr" cap="flat" w="38100">
                      <a:solidFill>
                        <a:srgbClr val="242424"/>
                      </a:solidFill>
                      <a:prstDash val="solid"/>
                      <a:round/>
                      <a:headEnd type="none" w="med" len="med"/>
                      <a:tailEnd type="none" w="med" len="med"/>
                    </a:lnB>
                  </a:tcPr>
                </a:tc>
              </a:tr>
              <a:tr h="635000">
                <a:tc>
                  <a:txBody>
                    <a:bodyPr anchor="t" rtlCol="false"/>
                    <a:lstStyle/>
                    <a:p>
                      <a:pPr algn="ctr">
                        <a:lnSpc>
                          <a:spcPts val="2800"/>
                        </a:lnSpc>
                        <a:defRPr/>
                      </a:pPr>
                      <a:r>
                        <a:rPr lang="en-US" sz="2000">
                          <a:solidFill>
                            <a:srgbClr val="000000"/>
                          </a:solidFill>
                          <a:latin typeface="DM Sans"/>
                          <a:ea typeface="DM Sans"/>
                          <a:cs typeface="DM Sans"/>
                          <a:sym typeface="DM Sans"/>
                        </a:rPr>
                        <a:t>San Isidro</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242424"/>
                      </a:solidFill>
                      <a:prstDash val="solid"/>
                      <a:round/>
                      <a:headEnd type="none" w="med" len="med"/>
                      <a:tailEnd type="none" w="med" len="med"/>
                    </a:lnT>
                    <a:lnB cmpd="sng" algn="ctr" cap="flat" w="38100">
                      <a:solidFill>
                        <a:srgbClr val="F8FA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DM Sans"/>
                          <a:ea typeface="DM Sans"/>
                          <a:cs typeface="DM Sans"/>
                          <a:sym typeface="DM Sans"/>
                        </a:rPr>
                        <a:t>227</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242424"/>
                      </a:solidFill>
                      <a:prstDash val="solid"/>
                      <a:round/>
                      <a:headEnd type="none" w="med" len="med"/>
                      <a:tailEnd type="none" w="med" len="med"/>
                    </a:lnT>
                    <a:lnB cmpd="sng" algn="ctr" cap="flat" w="38100">
                      <a:solidFill>
                        <a:srgbClr val="F8FAFF"/>
                      </a:solidFill>
                      <a:prstDash val="solid"/>
                      <a:round/>
                      <a:headEnd type="none" w="med" len="med"/>
                      <a:tailEnd type="none" w="med" len="med"/>
                    </a:lnB>
                  </a:tcPr>
                </a:tc>
              </a:tr>
              <a:tr h="635000">
                <a:tc>
                  <a:txBody>
                    <a:bodyPr anchor="t" rtlCol="false"/>
                    <a:lstStyle/>
                    <a:p>
                      <a:pPr algn="ctr">
                        <a:lnSpc>
                          <a:spcPts val="2800"/>
                        </a:lnSpc>
                        <a:defRPr/>
                      </a:pPr>
                      <a:r>
                        <a:rPr lang="en-US" sz="2000">
                          <a:solidFill>
                            <a:srgbClr val="000000"/>
                          </a:solidFill>
                          <a:latin typeface="DM Sans"/>
                          <a:ea typeface="DM Sans"/>
                          <a:cs typeface="DM Sans"/>
                          <a:sym typeface="DM Sans"/>
                        </a:rPr>
                        <a:t>La Molina</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F8FAFF"/>
                      </a:solidFill>
                      <a:prstDash val="solid"/>
                      <a:round/>
                      <a:headEnd type="none" w="med" len="med"/>
                      <a:tailEnd type="none" w="med" len="med"/>
                    </a:lnT>
                    <a:lnB cmpd="sng" algn="ctr" cap="flat" w="38100">
                      <a:solidFill>
                        <a:srgbClr val="F8FA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DM Sans"/>
                          <a:ea typeface="DM Sans"/>
                          <a:cs typeface="DM Sans"/>
                          <a:sym typeface="DM Sans"/>
                        </a:rPr>
                        <a:t>208</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F8FAFF"/>
                      </a:solidFill>
                      <a:prstDash val="solid"/>
                      <a:round/>
                      <a:headEnd type="none" w="med" len="med"/>
                      <a:tailEnd type="none" w="med" len="med"/>
                    </a:lnT>
                    <a:lnB cmpd="sng" algn="ctr" cap="flat" w="38100">
                      <a:solidFill>
                        <a:srgbClr val="F8FAFF"/>
                      </a:solidFill>
                      <a:prstDash val="solid"/>
                      <a:round/>
                      <a:headEnd type="none" w="med" len="med"/>
                      <a:tailEnd type="none" w="med" len="med"/>
                    </a:lnB>
                  </a:tcPr>
                </a:tc>
              </a:tr>
              <a:tr h="635000">
                <a:tc>
                  <a:txBody>
                    <a:bodyPr anchor="t" rtlCol="false"/>
                    <a:lstStyle/>
                    <a:p>
                      <a:pPr algn="ctr">
                        <a:lnSpc>
                          <a:spcPts val="2800"/>
                        </a:lnSpc>
                        <a:defRPr/>
                      </a:pPr>
                      <a:r>
                        <a:rPr lang="en-US" sz="2000">
                          <a:solidFill>
                            <a:srgbClr val="000000"/>
                          </a:solidFill>
                          <a:latin typeface="DM Sans"/>
                          <a:ea typeface="DM Sans"/>
                          <a:cs typeface="DM Sans"/>
                          <a:sym typeface="DM Sans"/>
                        </a:rPr>
                        <a:t>Miraflores</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F8FAFF"/>
                      </a:solidFill>
                      <a:prstDash val="solid"/>
                      <a:round/>
                      <a:headEnd type="none" w="med" len="med"/>
                      <a:tailEnd type="none" w="med" len="med"/>
                    </a:lnT>
                    <a:lnB cmpd="sng" algn="ctr" cap="flat" w="38100">
                      <a:solidFill>
                        <a:srgbClr val="F8FA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DM Sans"/>
                          <a:ea typeface="DM Sans"/>
                          <a:cs typeface="DM Sans"/>
                          <a:sym typeface="DM Sans"/>
                        </a:rPr>
                        <a:t>199</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F8FAFF"/>
                      </a:solidFill>
                      <a:prstDash val="solid"/>
                      <a:round/>
                      <a:headEnd type="none" w="med" len="med"/>
                      <a:tailEnd type="none" w="med" len="med"/>
                    </a:lnT>
                    <a:lnB cmpd="sng" algn="ctr" cap="flat" w="38100">
                      <a:solidFill>
                        <a:srgbClr val="F8FAFF"/>
                      </a:solidFill>
                      <a:prstDash val="solid"/>
                      <a:round/>
                      <a:headEnd type="none" w="med" len="med"/>
                      <a:tailEnd type="none" w="med" len="med"/>
                    </a:lnB>
                  </a:tcPr>
                </a:tc>
              </a:tr>
              <a:tr h="635000">
                <a:tc>
                  <a:txBody>
                    <a:bodyPr anchor="t" rtlCol="false"/>
                    <a:lstStyle/>
                    <a:p>
                      <a:pPr algn="ctr">
                        <a:lnSpc>
                          <a:spcPts val="2800"/>
                        </a:lnSpc>
                        <a:defRPr/>
                      </a:pPr>
                      <a:r>
                        <a:rPr lang="en-US" sz="2000">
                          <a:solidFill>
                            <a:srgbClr val="000000"/>
                          </a:solidFill>
                          <a:latin typeface="DM Sans"/>
                          <a:ea typeface="DM Sans"/>
                          <a:cs typeface="DM Sans"/>
                          <a:sym typeface="DM Sans"/>
                        </a:rPr>
                        <a:t>San Borja</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F8FAFF"/>
                      </a:solidFill>
                      <a:prstDash val="solid"/>
                      <a:round/>
                      <a:headEnd type="none" w="med" len="med"/>
                      <a:tailEnd type="none" w="med" len="med"/>
                    </a:lnT>
                    <a:lnB cmpd="sng" algn="ctr" cap="flat" w="38100">
                      <a:solidFill>
                        <a:srgbClr val="F8FAFF"/>
                      </a:solidFill>
                      <a:prstDash val="solid"/>
                      <a:round/>
                      <a:headEnd type="none" w="med" len="med"/>
                      <a:tailEnd type="none" w="med" len="med"/>
                    </a:lnB>
                  </a:tcPr>
                </a:tc>
                <a:tc>
                  <a:txBody>
                    <a:bodyPr anchor="t" rtlCol="false"/>
                    <a:lstStyle/>
                    <a:p>
                      <a:pPr algn="ctr" marL="0" indent="0" lvl="0">
                        <a:lnSpc>
                          <a:spcPts val="2800"/>
                        </a:lnSpc>
                        <a:spcBef>
                          <a:spcPct val="0"/>
                        </a:spcBef>
                        <a:defRPr/>
                      </a:pPr>
                      <a:r>
                        <a:rPr lang="en-US" sz="2000" strike="noStrike" u="none">
                          <a:solidFill>
                            <a:srgbClr val="000000"/>
                          </a:solidFill>
                          <a:latin typeface="DM Sans"/>
                          <a:ea typeface="DM Sans"/>
                          <a:cs typeface="DM Sans"/>
                          <a:sym typeface="DM Sans"/>
                        </a:rPr>
                        <a:t>181</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F8FAFF"/>
                      </a:solidFill>
                      <a:prstDash val="solid"/>
                      <a:round/>
                      <a:headEnd type="none" w="med" len="med"/>
                      <a:tailEnd type="none" w="med" len="med"/>
                    </a:lnT>
                    <a:lnB cmpd="sng" algn="ctr" cap="flat" w="38100">
                      <a:solidFill>
                        <a:srgbClr val="F8FAFF"/>
                      </a:solidFill>
                      <a:prstDash val="solid"/>
                      <a:round/>
                      <a:headEnd type="none" w="med" len="med"/>
                      <a:tailEnd type="none" w="med" len="med"/>
                    </a:lnB>
                  </a:tcPr>
                </a:tc>
              </a:tr>
              <a:tr h="635000">
                <a:tc>
                  <a:txBody>
                    <a:bodyPr anchor="t" rtlCol="false"/>
                    <a:lstStyle/>
                    <a:p>
                      <a:pPr algn="ctr">
                        <a:lnSpc>
                          <a:spcPts val="2800"/>
                        </a:lnSpc>
                        <a:defRPr/>
                      </a:pPr>
                      <a:r>
                        <a:rPr lang="en-US" sz="2000">
                          <a:solidFill>
                            <a:srgbClr val="000000"/>
                          </a:solidFill>
                          <a:latin typeface="DM Sans"/>
                          <a:ea typeface="DM Sans"/>
                          <a:cs typeface="DM Sans"/>
                          <a:sym typeface="DM Sans"/>
                        </a:rPr>
                        <a:t>Santiago de Surco</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F8FAFF"/>
                      </a:solidFill>
                      <a:prstDash val="solid"/>
                      <a:round/>
                      <a:headEnd type="none" w="med" len="med"/>
                      <a:tailEnd type="none" w="med" len="med"/>
                    </a:lnT>
                    <a:lnB cmpd="sng" algn="ctr" cap="flat" w="38100">
                      <a:solidFill>
                        <a:srgbClr val="242424"/>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DM Sans"/>
                          <a:ea typeface="DM Sans"/>
                          <a:cs typeface="DM Sans"/>
                          <a:sym typeface="DM Sans"/>
                        </a:rPr>
                        <a:t>179</a:t>
                      </a:r>
                      <a:endParaRPr lang="en-US" sz="1100"/>
                    </a:p>
                  </a:txBody>
                  <a:tcPr marL="104775" marR="104775" marT="104775" marB="104775" anchor="ctr">
                    <a:lnL cmpd="sng" algn="ctr" cap="flat" w="38100">
                      <a:solidFill>
                        <a:srgbClr val="F8FAFF"/>
                      </a:solidFill>
                      <a:prstDash val="solid"/>
                      <a:round/>
                      <a:headEnd type="none" w="med" len="med"/>
                      <a:tailEnd type="none" w="med" len="med"/>
                    </a:lnL>
                    <a:lnR cmpd="sng" algn="ctr" cap="flat" w="38100">
                      <a:solidFill>
                        <a:srgbClr val="F8FAFF"/>
                      </a:solidFill>
                      <a:prstDash val="solid"/>
                      <a:round/>
                      <a:headEnd type="none" w="med" len="med"/>
                      <a:tailEnd type="none" w="med" len="med"/>
                    </a:lnR>
                    <a:lnT cmpd="sng" algn="ctr" cap="flat" w="38100">
                      <a:solidFill>
                        <a:srgbClr val="F8FAFF"/>
                      </a:solidFill>
                      <a:prstDash val="solid"/>
                      <a:round/>
                      <a:headEnd type="none" w="med" len="med"/>
                      <a:tailEnd type="none" w="med" len="med"/>
                    </a:lnT>
                    <a:lnB cmpd="sng" algn="ctr" cap="flat" w="38100">
                      <a:solidFill>
                        <a:srgbClr val="242424"/>
                      </a:solidFill>
                      <a:prstDash val="solid"/>
                      <a:round/>
                      <a:headEnd type="none" w="med" len="med"/>
                      <a:tailEnd type="none" w="med" len="med"/>
                    </a:lnB>
                  </a:tcPr>
                </a:tc>
              </a:tr>
            </a:tbl>
          </a:graphicData>
        </a:graphic>
      </p:graphicFrame>
      <p:sp>
        <p:nvSpPr>
          <p:cNvPr name="TextBox 3" id="3"/>
          <p:cNvSpPr txBox="true"/>
          <p:nvPr/>
        </p:nvSpPr>
        <p:spPr>
          <a:xfrm rot="0">
            <a:off x="1028700" y="1211202"/>
            <a:ext cx="14514979" cy="1736725"/>
          </a:xfrm>
          <a:prstGeom prst="rect">
            <a:avLst/>
          </a:prstGeom>
        </p:spPr>
        <p:txBody>
          <a:bodyPr anchor="t" rtlCol="false" tIns="0" lIns="0" bIns="0" rIns="0">
            <a:spAutoFit/>
          </a:bodyPr>
          <a:lstStyle/>
          <a:p>
            <a:pPr algn="l">
              <a:lnSpc>
                <a:spcPts val="3499"/>
              </a:lnSpc>
            </a:pPr>
            <a:r>
              <a:rPr lang="en-US" sz="2499">
                <a:solidFill>
                  <a:srgbClr val="242424"/>
                </a:solidFill>
                <a:latin typeface="TT Chocolates"/>
                <a:ea typeface="TT Chocolates"/>
                <a:cs typeface="TT Chocolates"/>
                <a:sym typeface="TT Chocolates"/>
              </a:rPr>
              <a:t>Lima enfrenta una elevada demanda de agua, durante 2025, Lima Metropolitana y Callao registraron un consumo promedio 134 litros por persona al día. La cifra fue reportada por SUNASS en febrero de 2026. Además, existen diferencias importantes entre distritos. </a:t>
            </a:r>
          </a:p>
          <a:p>
            <a:pPr algn="l" marL="0" indent="0" lvl="0">
              <a:lnSpc>
                <a:spcPts val="3499"/>
              </a:lnSpc>
            </a:pPr>
          </a:p>
        </p:txBody>
      </p:sp>
      <p:sp>
        <p:nvSpPr>
          <p:cNvPr name="TextBox 4" id="4"/>
          <p:cNvSpPr txBox="true"/>
          <p:nvPr/>
        </p:nvSpPr>
        <p:spPr>
          <a:xfrm rot="0">
            <a:off x="1053527" y="334902"/>
            <a:ext cx="15630968" cy="923925"/>
          </a:xfrm>
          <a:prstGeom prst="rect">
            <a:avLst/>
          </a:prstGeom>
        </p:spPr>
        <p:txBody>
          <a:bodyPr anchor="t" rtlCol="false" tIns="0" lIns="0" bIns="0" rIns="0">
            <a:spAutoFit/>
          </a:bodyPr>
          <a:lstStyle/>
          <a:p>
            <a:pPr algn="l">
              <a:lnSpc>
                <a:spcPts val="6600"/>
              </a:lnSpc>
            </a:pPr>
            <a:r>
              <a:rPr lang="en-US" sz="5000">
                <a:solidFill>
                  <a:srgbClr val="1C1B19"/>
                </a:solidFill>
                <a:latin typeface="Gill Sans Condensed"/>
                <a:ea typeface="Gill Sans Condensed"/>
                <a:cs typeface="Gill Sans Condensed"/>
                <a:sym typeface="Gill Sans Condensed"/>
              </a:rPr>
              <a:t>LA SITUACIÓN DE LIMA</a:t>
            </a:r>
          </a:p>
        </p:txBody>
      </p:sp>
      <p:sp>
        <p:nvSpPr>
          <p:cNvPr name="TextBox 5" id="5"/>
          <p:cNvSpPr txBox="true"/>
          <p:nvPr/>
        </p:nvSpPr>
        <p:spPr>
          <a:xfrm rot="0">
            <a:off x="1053527" y="2712977"/>
            <a:ext cx="14658411" cy="422275"/>
          </a:xfrm>
          <a:prstGeom prst="rect">
            <a:avLst/>
          </a:prstGeom>
        </p:spPr>
        <p:txBody>
          <a:bodyPr anchor="t" rtlCol="false" tIns="0" lIns="0" bIns="0" rIns="0">
            <a:spAutoFit/>
          </a:bodyPr>
          <a:lstStyle/>
          <a:p>
            <a:pPr algn="l" marL="0" indent="0" lvl="0">
              <a:lnSpc>
                <a:spcPts val="3499"/>
              </a:lnSpc>
            </a:pPr>
            <a:r>
              <a:rPr lang="en-US" sz="2499">
                <a:solidFill>
                  <a:srgbClr val="242424"/>
                </a:solidFill>
                <a:latin typeface="TT Chocolates"/>
                <a:ea typeface="TT Chocolates"/>
                <a:cs typeface="TT Chocolates"/>
                <a:sym typeface="TT Chocolates"/>
              </a:rPr>
              <a:t>Tabla 1: Distritos con mayor consumo</a:t>
            </a:r>
          </a:p>
        </p:txBody>
      </p:sp>
      <p:sp>
        <p:nvSpPr>
          <p:cNvPr name="AutoShape 6" id="6"/>
          <p:cNvSpPr/>
          <p:nvPr/>
        </p:nvSpPr>
        <p:spPr>
          <a:xfrm rot="0">
            <a:off x="16908188" y="-1804854"/>
            <a:ext cx="1379812" cy="12299202"/>
          </a:xfrm>
          <a:prstGeom prst="rect">
            <a:avLst/>
          </a:prstGeom>
          <a:solidFill>
            <a:srgbClr val="CFDBFF"/>
          </a:solidFill>
        </p:spPr>
      </p:sp>
      <p:sp>
        <p:nvSpPr>
          <p:cNvPr name="TextBox 7" id="7"/>
          <p:cNvSpPr txBox="true"/>
          <p:nvPr/>
        </p:nvSpPr>
        <p:spPr>
          <a:xfrm rot="0">
            <a:off x="10192345" y="4297122"/>
            <a:ext cx="4867398" cy="2174875"/>
          </a:xfrm>
          <a:prstGeom prst="rect">
            <a:avLst/>
          </a:prstGeom>
        </p:spPr>
        <p:txBody>
          <a:bodyPr anchor="t" rtlCol="false" tIns="0" lIns="0" bIns="0" rIns="0">
            <a:spAutoFit/>
          </a:bodyPr>
          <a:lstStyle/>
          <a:p>
            <a:pPr algn="l">
              <a:lnSpc>
                <a:spcPts val="3499"/>
              </a:lnSpc>
            </a:pPr>
            <a:r>
              <a:rPr lang="en-US" sz="2499">
                <a:solidFill>
                  <a:srgbClr val="242424"/>
                </a:solidFill>
                <a:latin typeface="TT Chocolates"/>
                <a:ea typeface="TT Chocolates"/>
                <a:cs typeface="TT Chocolates"/>
                <a:sym typeface="TT Chocolates"/>
              </a:rPr>
              <a:t>SUNASS también señala que:</a:t>
            </a:r>
          </a:p>
          <a:p>
            <a:pPr algn="l">
              <a:lnSpc>
                <a:spcPts val="3499"/>
              </a:lnSpc>
            </a:pPr>
            <a:r>
              <a:rPr lang="en-US" sz="2499">
                <a:solidFill>
                  <a:srgbClr val="242424"/>
                </a:solidFill>
                <a:latin typeface="TT Chocolates"/>
                <a:ea typeface="TT Chocolates"/>
                <a:cs typeface="TT Chocolates"/>
                <a:sym typeface="TT Chocolates"/>
              </a:rPr>
              <a:t>“solo 19 de 46 distritos disponen de agua potable durante las 24 horas del día.” [2]</a:t>
            </a:r>
          </a:p>
          <a:p>
            <a:pPr algn="l" marL="0" indent="0" lvl="0">
              <a:lnSpc>
                <a:spcPts val="3499"/>
              </a:lnSpc>
            </a:pPr>
          </a:p>
        </p:txBody>
      </p:sp>
      <p:sp>
        <p:nvSpPr>
          <p:cNvPr name="TextBox 8" id="8"/>
          <p:cNvSpPr txBox="true"/>
          <p:nvPr/>
        </p:nvSpPr>
        <p:spPr>
          <a:xfrm rot="0">
            <a:off x="592644" y="9513835"/>
            <a:ext cx="16043651" cy="711200"/>
          </a:xfrm>
          <a:prstGeom prst="rect">
            <a:avLst/>
          </a:prstGeom>
        </p:spPr>
        <p:txBody>
          <a:bodyPr anchor="t" rtlCol="false" tIns="0" lIns="0" bIns="0" rIns="0">
            <a:spAutoFit/>
          </a:bodyPr>
          <a:lstStyle/>
          <a:p>
            <a:pPr algn="l" marL="0" indent="0" lvl="0">
              <a:lnSpc>
                <a:spcPts val="2800"/>
              </a:lnSpc>
            </a:pPr>
            <a:r>
              <a:rPr lang="en-US" sz="2000">
                <a:solidFill>
                  <a:srgbClr val="242424"/>
                </a:solidFill>
                <a:latin typeface="TT Chocolates"/>
                <a:ea typeface="TT Chocolates"/>
                <a:cs typeface="TT Chocolates"/>
                <a:sym typeface="TT Chocolates"/>
              </a:rPr>
              <a:t>[2] SUNASS. Consumo promedio de agua potable en Lima es de 134 litros al día por persona [Internet]. Lima: SUNASS; 2026 [citado 16 sep 2026]. Disponible en: </a:t>
            </a:r>
            <a:r>
              <a:rPr lang="en-US" sz="2000" u="sng">
                <a:solidFill>
                  <a:srgbClr val="242424"/>
                </a:solidFill>
                <a:latin typeface="TT Chocolates"/>
                <a:ea typeface="TT Chocolates"/>
                <a:cs typeface="TT Chocolates"/>
                <a:sym typeface="TT Chocolates"/>
                <a:hlinkClick r:id="rId2" tooltip="https://www.gob.pe/institucion/sunass/noticias/1350994"/>
              </a:rPr>
              <a:t>https://www.gob.pe/institucion/sunass/noticias/1350994</a:t>
            </a:r>
          </a:p>
        </p:txBody>
      </p:sp>
      <p:sp>
        <p:nvSpPr>
          <p:cNvPr name="TextBox 9" id="9"/>
          <p:cNvSpPr txBox="true"/>
          <p:nvPr/>
        </p:nvSpPr>
        <p:spPr>
          <a:xfrm rot="0">
            <a:off x="1053527" y="7520755"/>
            <a:ext cx="14490152" cy="1736725"/>
          </a:xfrm>
          <a:prstGeom prst="rect">
            <a:avLst/>
          </a:prstGeom>
        </p:spPr>
        <p:txBody>
          <a:bodyPr anchor="t" rtlCol="false" tIns="0" lIns="0" bIns="0" rIns="0">
            <a:spAutoFit/>
          </a:bodyPr>
          <a:lstStyle/>
          <a:p>
            <a:pPr algn="l">
              <a:lnSpc>
                <a:spcPts val="3499"/>
              </a:lnSpc>
            </a:pPr>
            <a:r>
              <a:rPr lang="en-US" sz="2499">
                <a:solidFill>
                  <a:srgbClr val="242424"/>
                </a:solidFill>
                <a:latin typeface="TT Chocolates"/>
                <a:ea typeface="TT Chocolates"/>
                <a:cs typeface="TT Chocolates"/>
                <a:sym typeface="TT Chocolates"/>
              </a:rPr>
              <a:t>¿Qué significa para nuestro problema?</a:t>
            </a:r>
          </a:p>
          <a:p>
            <a:pPr algn="l">
              <a:lnSpc>
                <a:spcPts val="3499"/>
              </a:lnSpc>
            </a:pPr>
            <a:r>
              <a:rPr lang="en-US" sz="2499">
                <a:solidFill>
                  <a:srgbClr val="242424"/>
                </a:solidFill>
                <a:latin typeface="TT Chocolates"/>
                <a:ea typeface="TT Chocolates"/>
                <a:cs typeface="TT Chocolates"/>
                <a:sym typeface="TT Chocolates"/>
              </a:rPr>
              <a:t>Lima no solamente enfrenta una cuestión de cantidad de agua disponible, sino también una necesidad de gestionar eficientemente el agua que ya se utiliza.</a:t>
            </a:r>
          </a:p>
          <a:p>
            <a:pPr algn="l" marL="0" indent="0" lvl="0">
              <a:lnSpc>
                <a:spcPts val="34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sp>
        <p:nvSpPr>
          <p:cNvPr name="TextBox 3" id="3"/>
          <p:cNvSpPr txBox="true"/>
          <p:nvPr/>
        </p:nvSpPr>
        <p:spPr>
          <a:xfrm rot="0">
            <a:off x="1885978" y="1498328"/>
            <a:ext cx="15115677" cy="2613025"/>
          </a:xfrm>
          <a:prstGeom prst="rect">
            <a:avLst/>
          </a:prstGeom>
        </p:spPr>
        <p:txBody>
          <a:bodyPr anchor="t" rtlCol="false" tIns="0" lIns="0" bIns="0" rIns="0">
            <a:spAutoFit/>
          </a:bodyPr>
          <a:lstStyle/>
          <a:p>
            <a:pPr algn="l">
              <a:lnSpc>
                <a:spcPts val="3499"/>
              </a:lnSpc>
            </a:pPr>
            <a:r>
              <a:rPr lang="en-US" sz="2499">
                <a:solidFill>
                  <a:srgbClr val="242424"/>
                </a:solidFill>
                <a:latin typeface="TT Chocolates"/>
                <a:ea typeface="TT Chocolates"/>
                <a:cs typeface="TT Chocolates"/>
                <a:sym typeface="TT Chocolates"/>
              </a:rPr>
              <a:t>El riego representa una parte importante del consumo en determinados hogares urbanos. La problemática no se limita al consumo doméstico básico.</a:t>
            </a:r>
          </a:p>
          <a:p>
            <a:pPr algn="l">
              <a:lnSpc>
                <a:spcPts val="3499"/>
              </a:lnSpc>
            </a:pPr>
            <a:r>
              <a:rPr lang="en-US" sz="2499">
                <a:solidFill>
                  <a:srgbClr val="242424"/>
                </a:solidFill>
                <a:latin typeface="TT Chocolates"/>
                <a:ea typeface="TT Chocolates"/>
                <a:cs typeface="TT Chocolates"/>
                <a:sym typeface="TT Chocolates"/>
              </a:rPr>
              <a:t>SUNASS reportó que: “en distritos con viviendas con jardines privados, el riego puede representar hasta el 22 % del consumo diario” [2]</a:t>
            </a:r>
          </a:p>
          <a:p>
            <a:pPr algn="l" marL="0" indent="0" lvl="0">
              <a:lnSpc>
                <a:spcPts val="3499"/>
              </a:lnSpc>
            </a:pPr>
            <a:r>
              <a:rPr lang="en-US" sz="2499">
                <a:solidFill>
                  <a:srgbClr val="242424"/>
                </a:solidFill>
                <a:latin typeface="TT Chocolates"/>
                <a:ea typeface="TT Chocolates"/>
                <a:cs typeface="TT Chocolates"/>
                <a:sym typeface="TT Chocolates"/>
              </a:rPr>
              <a:t>Mi</a:t>
            </a:r>
            <a:r>
              <a:rPr lang="en-US" sz="2499">
                <a:solidFill>
                  <a:srgbClr val="242424"/>
                </a:solidFill>
                <a:latin typeface="TT Chocolates"/>
                <a:ea typeface="TT Chocolates"/>
                <a:cs typeface="TT Chocolates"/>
                <a:sym typeface="TT Chocolates"/>
              </a:rPr>
              <a:t>entras que: “en zonas sin áreas verdes, esta proporción no supera el 4%.” [2]</a:t>
            </a:r>
          </a:p>
          <a:p>
            <a:pPr algn="l" marL="0" indent="0" lvl="0">
              <a:lnSpc>
                <a:spcPts val="3499"/>
              </a:lnSpc>
            </a:pPr>
          </a:p>
        </p:txBody>
      </p:sp>
      <p:sp>
        <p:nvSpPr>
          <p:cNvPr name="TextBox 4" id="4"/>
          <p:cNvSpPr txBox="true"/>
          <p:nvPr/>
        </p:nvSpPr>
        <p:spPr>
          <a:xfrm rot="0">
            <a:off x="1885978" y="279128"/>
            <a:ext cx="15630968" cy="923925"/>
          </a:xfrm>
          <a:prstGeom prst="rect">
            <a:avLst/>
          </a:prstGeom>
        </p:spPr>
        <p:txBody>
          <a:bodyPr anchor="t" rtlCol="false" tIns="0" lIns="0" bIns="0" rIns="0">
            <a:spAutoFit/>
          </a:bodyPr>
          <a:lstStyle/>
          <a:p>
            <a:pPr algn="l">
              <a:lnSpc>
                <a:spcPts val="6600"/>
              </a:lnSpc>
            </a:pPr>
            <a:r>
              <a:rPr lang="en-US" sz="5000">
                <a:solidFill>
                  <a:srgbClr val="1C1B19"/>
                </a:solidFill>
                <a:latin typeface="Gill Sans Condensed"/>
                <a:ea typeface="Gill Sans Condensed"/>
                <a:cs typeface="Gill Sans Condensed"/>
                <a:sym typeface="Gill Sans Condensed"/>
              </a:rPr>
              <a:t>¿QUÉ TIENE QUE VER ESTO CON LOS JARDINES?</a:t>
            </a:r>
          </a:p>
        </p:txBody>
      </p:sp>
      <p:pic>
        <p:nvPicPr>
          <p:cNvPr name="Picture 5" id="5"/>
          <p:cNvPicPr>
            <a:picLocks noChangeAspect="true"/>
          </p:cNvPicPr>
          <p:nvPr/>
        </p:nvPicPr>
        <p:blipFill>
          <a:blip r:embed="rId2"/>
          <a:stretch>
            <a:fillRect/>
          </a:stretch>
        </p:blipFill>
        <p:spPr>
          <a:xfrm rot="0">
            <a:off x="2653469" y="2791349"/>
            <a:ext cx="12981064" cy="5219916"/>
          </a:xfrm>
          <a:prstGeom prst="rect">
            <a:avLst/>
          </a:prstGeom>
        </p:spPr>
      </p:pic>
      <p:sp>
        <p:nvSpPr>
          <p:cNvPr name="TextBox 6" id="6"/>
          <p:cNvSpPr txBox="true"/>
          <p:nvPr/>
        </p:nvSpPr>
        <p:spPr>
          <a:xfrm rot="0">
            <a:off x="1985622" y="7115226"/>
            <a:ext cx="15588452" cy="2082146"/>
          </a:xfrm>
          <a:prstGeom prst="rect">
            <a:avLst/>
          </a:prstGeom>
        </p:spPr>
        <p:txBody>
          <a:bodyPr anchor="t" rtlCol="false" tIns="0" lIns="0" bIns="0" rIns="0">
            <a:spAutoFit/>
          </a:bodyPr>
          <a:lstStyle/>
          <a:p>
            <a:pPr algn="l">
              <a:lnSpc>
                <a:spcPts val="3361"/>
              </a:lnSpc>
            </a:pPr>
            <a:r>
              <a:rPr lang="en-US" sz="2400" b="true">
                <a:solidFill>
                  <a:srgbClr val="242424"/>
                </a:solidFill>
                <a:latin typeface="TT Chocolates Bold"/>
                <a:ea typeface="TT Chocolates Bold"/>
                <a:cs typeface="TT Chocolates Bold"/>
                <a:sym typeface="TT Chocolates Bold"/>
              </a:rPr>
              <a:t>Idea clave</a:t>
            </a:r>
          </a:p>
          <a:p>
            <a:pPr algn="l">
              <a:lnSpc>
                <a:spcPts val="3361"/>
              </a:lnSpc>
            </a:pPr>
            <a:r>
              <a:rPr lang="en-US" sz="2400">
                <a:solidFill>
                  <a:srgbClr val="242424"/>
                </a:solidFill>
                <a:latin typeface="TT Chocolates"/>
                <a:ea typeface="TT Chocolates"/>
                <a:cs typeface="TT Chocolates"/>
                <a:sym typeface="TT Chocolates"/>
              </a:rPr>
              <a:t>Esto muestra que las áreas verdes pueden representar una parte significativa del consumo de agua en determinados contextos urbanos.</a:t>
            </a:r>
          </a:p>
          <a:p>
            <a:pPr algn="l">
              <a:lnSpc>
                <a:spcPts val="3361"/>
              </a:lnSpc>
            </a:pPr>
            <a:r>
              <a:rPr lang="en-US" sz="2400">
                <a:solidFill>
                  <a:srgbClr val="242424"/>
                </a:solidFill>
                <a:latin typeface="TT Chocolates"/>
                <a:ea typeface="TT Chocolates"/>
                <a:cs typeface="TT Chocolates"/>
                <a:sym typeface="TT Chocolates"/>
              </a:rPr>
              <a:t>Por eso, nuestro problema no es eliminar los parques o jardines.</a:t>
            </a:r>
          </a:p>
          <a:p>
            <a:pPr algn="l" marL="0" indent="0" lvl="0">
              <a:lnSpc>
                <a:spcPts val="3361"/>
              </a:lnSpc>
            </a:pPr>
            <a:r>
              <a:rPr lang="en-US" sz="2400">
                <a:solidFill>
                  <a:srgbClr val="242424"/>
                </a:solidFill>
                <a:latin typeface="TT Chocolates"/>
                <a:ea typeface="TT Chocolates"/>
                <a:cs typeface="TT Chocolates"/>
                <a:sym typeface="TT Chocolates"/>
              </a:rPr>
              <a:t>Es: </a:t>
            </a:r>
            <a:r>
              <a:rPr lang="en-US" b="true" sz="2400">
                <a:solidFill>
                  <a:srgbClr val="242424"/>
                </a:solidFill>
                <a:latin typeface="TT Chocolates Bold"/>
                <a:ea typeface="TT Chocolates Bold"/>
                <a:cs typeface="TT Chocolates Bold"/>
                <a:sym typeface="TT Chocolates Bold"/>
              </a:rPr>
              <a:t>¿Cómo utilizar el agua necesaria para mantenerlos de una manera más eficiente?</a:t>
            </a:r>
          </a:p>
        </p:txBody>
      </p:sp>
      <p:sp>
        <p:nvSpPr>
          <p:cNvPr name="TextBox 7" id="7"/>
          <p:cNvSpPr txBox="true"/>
          <p:nvPr/>
        </p:nvSpPr>
        <p:spPr>
          <a:xfrm rot="0">
            <a:off x="1758023" y="9542410"/>
            <a:ext cx="16043651" cy="711200"/>
          </a:xfrm>
          <a:prstGeom prst="rect">
            <a:avLst/>
          </a:prstGeom>
        </p:spPr>
        <p:txBody>
          <a:bodyPr anchor="t" rtlCol="false" tIns="0" lIns="0" bIns="0" rIns="0">
            <a:spAutoFit/>
          </a:bodyPr>
          <a:lstStyle/>
          <a:p>
            <a:pPr algn="l" marL="0" indent="0" lvl="0">
              <a:lnSpc>
                <a:spcPts val="2800"/>
              </a:lnSpc>
            </a:pPr>
            <a:r>
              <a:rPr lang="en-US" sz="2000">
                <a:solidFill>
                  <a:srgbClr val="242424"/>
                </a:solidFill>
                <a:latin typeface="TT Chocolates"/>
                <a:ea typeface="TT Chocolates"/>
                <a:cs typeface="TT Chocolates"/>
                <a:sym typeface="TT Chocolates"/>
              </a:rPr>
              <a:t>[2] SUNASS. Consumo promedio de agua potable en Lima es de 134 litros al día por persona [Internet]. Lima: SUNASS; 2026 [citado 16 sep 2026]. Disponible en: </a:t>
            </a:r>
            <a:r>
              <a:rPr lang="en-US" sz="2000" u="sng">
                <a:solidFill>
                  <a:srgbClr val="242424"/>
                </a:solidFill>
                <a:latin typeface="TT Chocolates"/>
                <a:ea typeface="TT Chocolates"/>
                <a:cs typeface="TT Chocolates"/>
                <a:sym typeface="TT Chocolates"/>
                <a:hlinkClick r:id="rId3" tooltip="https://www.gob.pe/institucion/sunass/noticias/1350994"/>
              </a:rPr>
              <a:t>https://www.gob.pe/institucion/sunass/noticias/1350994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TextBox 2" id="2"/>
          <p:cNvSpPr txBox="true"/>
          <p:nvPr/>
        </p:nvSpPr>
        <p:spPr>
          <a:xfrm rot="0">
            <a:off x="563019" y="1049390"/>
            <a:ext cx="15875794" cy="1736725"/>
          </a:xfrm>
          <a:prstGeom prst="rect">
            <a:avLst/>
          </a:prstGeom>
        </p:spPr>
        <p:txBody>
          <a:bodyPr anchor="t" rtlCol="false" tIns="0" lIns="0" bIns="0" rIns="0">
            <a:spAutoFit/>
          </a:bodyPr>
          <a:lstStyle/>
          <a:p>
            <a:pPr algn="l">
              <a:lnSpc>
                <a:spcPts val="3499"/>
              </a:lnSpc>
            </a:pPr>
          </a:p>
          <a:p>
            <a:pPr algn="l">
              <a:lnSpc>
                <a:spcPts val="3499"/>
              </a:lnSpc>
            </a:pPr>
            <a:r>
              <a:rPr lang="en-US" sz="2499">
                <a:solidFill>
                  <a:srgbClr val="242424"/>
                </a:solidFill>
                <a:latin typeface="TT Chocolates"/>
                <a:ea typeface="TT Chocolates"/>
                <a:cs typeface="TT Chocolates"/>
                <a:sym typeface="TT Chocolates"/>
              </a:rPr>
              <a:t>En 2024, la Municipalidad de Miraflores informó que había reducido el uso de agua potable para el riego de parques y jardines.</a:t>
            </a:r>
          </a:p>
          <a:p>
            <a:pPr algn="l" marL="0" indent="0" lvl="0">
              <a:lnSpc>
                <a:spcPts val="3499"/>
              </a:lnSpc>
            </a:pPr>
            <a:r>
              <a:rPr lang="en-US" sz="2499">
                <a:solidFill>
                  <a:srgbClr val="242424"/>
                </a:solidFill>
                <a:latin typeface="TT Chocolates"/>
                <a:ea typeface="TT Chocolates"/>
                <a:cs typeface="TT Chocolates"/>
                <a:sym typeface="TT Chocolates"/>
              </a:rPr>
              <a:t>El alcalde señaló: “Yo recibí una gestión que usaba 40% de agua de Sedapal para este fin, la hemos reducido al 30%.” [3]</a:t>
            </a:r>
          </a:p>
        </p:txBody>
      </p:sp>
      <p:sp>
        <p:nvSpPr>
          <p:cNvPr name="TextBox 3" id="3"/>
          <p:cNvSpPr txBox="true"/>
          <p:nvPr/>
        </p:nvSpPr>
        <p:spPr>
          <a:xfrm rot="0">
            <a:off x="592644" y="173090"/>
            <a:ext cx="15630968" cy="923925"/>
          </a:xfrm>
          <a:prstGeom prst="rect">
            <a:avLst/>
          </a:prstGeom>
        </p:spPr>
        <p:txBody>
          <a:bodyPr anchor="t" rtlCol="false" tIns="0" lIns="0" bIns="0" rIns="0">
            <a:spAutoFit/>
          </a:bodyPr>
          <a:lstStyle/>
          <a:p>
            <a:pPr algn="l">
              <a:lnSpc>
                <a:spcPts val="6600"/>
              </a:lnSpc>
            </a:pPr>
            <a:r>
              <a:rPr lang="en-US" sz="5000">
                <a:solidFill>
                  <a:srgbClr val="1C1B19"/>
                </a:solidFill>
                <a:latin typeface="Gill Sans Condensed"/>
                <a:ea typeface="Gill Sans Condensed"/>
                <a:cs typeface="Gill Sans Condensed"/>
                <a:sym typeface="Gill Sans Condensed"/>
              </a:rPr>
              <a:t>EVIDENCIA DIRECTA EN PARQUES Y JARDINES</a:t>
            </a:r>
          </a:p>
        </p:txBody>
      </p:sp>
      <p:sp>
        <p:nvSpPr>
          <p:cNvPr name="AutoShape 4" id="4"/>
          <p:cNvSpPr/>
          <p:nvPr/>
        </p:nvSpPr>
        <p:spPr>
          <a:xfrm rot="0">
            <a:off x="16908188" y="-1804854"/>
            <a:ext cx="1379812" cy="12299202"/>
          </a:xfrm>
          <a:prstGeom prst="rect">
            <a:avLst/>
          </a:prstGeom>
          <a:solidFill>
            <a:srgbClr val="CFDBFF"/>
          </a:solidFill>
        </p:spPr>
      </p:sp>
      <p:sp>
        <p:nvSpPr>
          <p:cNvPr name="TextBox 5" id="5"/>
          <p:cNvSpPr txBox="true"/>
          <p:nvPr/>
        </p:nvSpPr>
        <p:spPr>
          <a:xfrm rot="0">
            <a:off x="592644" y="9201150"/>
            <a:ext cx="16043651" cy="1063625"/>
          </a:xfrm>
          <a:prstGeom prst="rect">
            <a:avLst/>
          </a:prstGeom>
        </p:spPr>
        <p:txBody>
          <a:bodyPr anchor="t" rtlCol="false" tIns="0" lIns="0" bIns="0" rIns="0">
            <a:spAutoFit/>
          </a:bodyPr>
          <a:lstStyle/>
          <a:p>
            <a:pPr algn="l" marL="0" indent="0" lvl="0">
              <a:lnSpc>
                <a:spcPts val="2800"/>
              </a:lnSpc>
            </a:pPr>
            <a:r>
              <a:rPr lang="en-US" sz="2000">
                <a:solidFill>
                  <a:srgbClr val="242424"/>
                </a:solidFill>
                <a:latin typeface="TT Chocolates"/>
                <a:ea typeface="TT Chocolates"/>
                <a:cs typeface="TT Chocolates"/>
                <a:sym typeface="TT Chocolates"/>
              </a:rPr>
              <a:t>[3] Municipalidad de Miraflores. Reducción del uso de agua potable para riego [Internet]. 2024 [citado 16 sep 2026]. Disponible en: </a:t>
            </a:r>
            <a:r>
              <a:rPr lang="en-US" sz="2000" u="sng">
                <a:solidFill>
                  <a:srgbClr val="242424"/>
                </a:solidFill>
                <a:latin typeface="TT Chocolates"/>
                <a:ea typeface="TT Chocolates"/>
                <a:cs typeface="TT Chocolates"/>
                <a:sym typeface="TT Chocolates"/>
                <a:hlinkClick r:id="rId2" tooltip="https://www.miraflores.gob.pe"/>
              </a:rPr>
              <a:t>[2] SUNASS. Consumo promedio de agua potable en Lima es de 134 litros al día por persona [Internet]. Lima: SUNASS; 2026 [citado 16 sep 2026]. Disponible en: </a:t>
            </a:r>
            <a:r>
              <a:rPr lang="en-US" sz="2000" u="sng">
                <a:solidFill>
                  <a:srgbClr val="242424"/>
                </a:solidFill>
                <a:latin typeface="TT Chocolates"/>
                <a:ea typeface="TT Chocolates"/>
                <a:cs typeface="TT Chocolates"/>
                <a:sym typeface="TT Chocolates"/>
                <a:hlinkClick r:id="rId3" tooltip="https://www.miraflores.gob.pe"/>
              </a:rPr>
              <a:t>https://www.gob.pe/institucion/sunass/noticias/1350994</a:t>
            </a:r>
          </a:p>
        </p:txBody>
      </p:sp>
      <p:sp>
        <p:nvSpPr>
          <p:cNvPr name="TextBox 6" id="6"/>
          <p:cNvSpPr txBox="true"/>
          <p:nvPr/>
        </p:nvSpPr>
        <p:spPr>
          <a:xfrm rot="0">
            <a:off x="563019" y="5560695"/>
            <a:ext cx="15376795" cy="2082165"/>
          </a:xfrm>
          <a:prstGeom prst="rect">
            <a:avLst/>
          </a:prstGeom>
        </p:spPr>
        <p:txBody>
          <a:bodyPr anchor="t" rtlCol="false" tIns="0" lIns="0" bIns="0" rIns="0">
            <a:spAutoFit/>
          </a:bodyPr>
          <a:lstStyle/>
          <a:p>
            <a:pPr algn="l">
              <a:lnSpc>
                <a:spcPts val="3359"/>
              </a:lnSpc>
            </a:pPr>
            <a:r>
              <a:rPr lang="en-US" sz="2400">
                <a:solidFill>
                  <a:srgbClr val="242424"/>
                </a:solidFill>
                <a:latin typeface="TT Chocolates"/>
                <a:ea typeface="TT Chocolates"/>
                <a:cs typeface="TT Chocolates"/>
                <a:sym typeface="TT Chocolates"/>
              </a:rPr>
              <a:t>Además</a:t>
            </a:r>
          </a:p>
          <a:p>
            <a:pPr algn="l">
              <a:lnSpc>
                <a:spcPts val="3359"/>
              </a:lnSpc>
            </a:pPr>
            <a:r>
              <a:rPr lang="en-US" sz="2400">
                <a:solidFill>
                  <a:srgbClr val="242424"/>
                </a:solidFill>
                <a:latin typeface="TT Chocolates"/>
                <a:ea typeface="TT Chocolates"/>
                <a:cs typeface="TT Chocolates"/>
                <a:sym typeface="TT Chocolates"/>
              </a:rPr>
              <a:t>Miraflores informó que cuenta con:</a:t>
            </a:r>
          </a:p>
          <a:p>
            <a:pPr algn="l" marL="518160" indent="-259080" lvl="1">
              <a:lnSpc>
                <a:spcPts val="3359"/>
              </a:lnSpc>
              <a:buFont typeface="Arial"/>
              <a:buChar char="•"/>
            </a:pPr>
            <a:r>
              <a:rPr lang="en-US" sz="2400">
                <a:solidFill>
                  <a:srgbClr val="242424"/>
                </a:solidFill>
                <a:latin typeface="TT Chocolates"/>
                <a:ea typeface="TT Chocolates"/>
                <a:cs typeface="TT Chocolates"/>
                <a:sym typeface="TT Chocolates"/>
              </a:rPr>
              <a:t>1.2 millones de m² de áreas verdes</a:t>
            </a:r>
          </a:p>
          <a:p>
            <a:pPr algn="l" marL="518160" indent="-259080" lvl="1">
              <a:lnSpc>
                <a:spcPts val="3359"/>
              </a:lnSpc>
              <a:buFont typeface="Arial"/>
              <a:buChar char="•"/>
            </a:pPr>
            <a:r>
              <a:rPr lang="en-US" sz="2400">
                <a:solidFill>
                  <a:srgbClr val="242424"/>
                </a:solidFill>
                <a:latin typeface="TT Chocolates"/>
                <a:ea typeface="TT Chocolates"/>
                <a:cs typeface="TT Chocolates"/>
                <a:sym typeface="TT Chocolates"/>
              </a:rPr>
              <a:t>Más de 3 millones de m² de jardines privados [3]</a:t>
            </a:r>
          </a:p>
          <a:p>
            <a:pPr algn="l" marL="0" indent="0" lvl="0">
              <a:lnSpc>
                <a:spcPts val="3359"/>
              </a:lnSpc>
            </a:pPr>
          </a:p>
        </p:txBody>
      </p:sp>
      <p:pic>
        <p:nvPicPr>
          <p:cNvPr name="Picture 7" id="7"/>
          <p:cNvPicPr>
            <a:picLocks noChangeAspect="true"/>
          </p:cNvPicPr>
          <p:nvPr/>
        </p:nvPicPr>
        <p:blipFill>
          <a:blip r:embed="rId4"/>
          <a:stretch>
            <a:fillRect/>
          </a:stretch>
        </p:blipFill>
        <p:spPr>
          <a:xfrm rot="0">
            <a:off x="1202941" y="1859019"/>
            <a:ext cx="14096950" cy="5027351"/>
          </a:xfrm>
          <a:prstGeom prst="rect">
            <a:avLst/>
          </a:prstGeom>
        </p:spPr>
      </p:pic>
      <p:sp>
        <p:nvSpPr>
          <p:cNvPr name="TextBox 8" id="8"/>
          <p:cNvSpPr txBox="true"/>
          <p:nvPr/>
        </p:nvSpPr>
        <p:spPr>
          <a:xfrm rot="0">
            <a:off x="592644" y="7436273"/>
            <a:ext cx="15376795" cy="1663065"/>
          </a:xfrm>
          <a:prstGeom prst="rect">
            <a:avLst/>
          </a:prstGeom>
        </p:spPr>
        <p:txBody>
          <a:bodyPr anchor="t" rtlCol="false" tIns="0" lIns="0" bIns="0" rIns="0">
            <a:spAutoFit/>
          </a:bodyPr>
          <a:lstStyle/>
          <a:p>
            <a:pPr algn="l">
              <a:lnSpc>
                <a:spcPts val="3359"/>
              </a:lnSpc>
            </a:pPr>
            <a:r>
              <a:rPr lang="en-US" sz="2400" b="true">
                <a:solidFill>
                  <a:srgbClr val="242424"/>
                </a:solidFill>
                <a:latin typeface="TT Chocolates Bold"/>
                <a:ea typeface="TT Chocolates Bold"/>
                <a:cs typeface="TT Chocolates Bold"/>
                <a:sym typeface="TT Chocolates Bold"/>
              </a:rPr>
              <a:t>¿Por qué este dato es importante?</a:t>
            </a:r>
          </a:p>
          <a:p>
            <a:pPr algn="l">
              <a:lnSpc>
                <a:spcPts val="3359"/>
              </a:lnSpc>
            </a:pPr>
            <a:r>
              <a:rPr lang="en-US" sz="2400">
                <a:solidFill>
                  <a:srgbClr val="242424"/>
                </a:solidFill>
                <a:latin typeface="TT Chocolates"/>
                <a:ea typeface="TT Chocolates"/>
                <a:cs typeface="TT Chocolates"/>
                <a:sym typeface="TT Chocolates"/>
              </a:rPr>
              <a:t>Porque demuestra que el uso de agua para áreas verdes no es un problema hipotético, una municipalidad de Lima ya está tomando medidas para disminuir el uso de agua potable destinado al riego.</a:t>
            </a:r>
          </a:p>
          <a:p>
            <a:pPr algn="l" marL="0" indent="0" lvl="0">
              <a:lnSpc>
                <a:spcPts val="33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sp>
        <p:nvSpPr>
          <p:cNvPr name="Freeform 3" id="3"/>
          <p:cNvSpPr/>
          <p:nvPr/>
        </p:nvSpPr>
        <p:spPr>
          <a:xfrm flipH="false" flipV="false" rot="0">
            <a:off x="1754814" y="1922236"/>
            <a:ext cx="14126447" cy="6390314"/>
          </a:xfrm>
          <a:custGeom>
            <a:avLst/>
            <a:gdLst/>
            <a:ahLst/>
            <a:cxnLst/>
            <a:rect r="r" b="b" t="t" l="l"/>
            <a:pathLst>
              <a:path h="6390314" w="14126447">
                <a:moveTo>
                  <a:pt x="0" y="0"/>
                </a:moveTo>
                <a:lnTo>
                  <a:pt x="14126447" y="0"/>
                </a:lnTo>
                <a:lnTo>
                  <a:pt x="14126447" y="6390314"/>
                </a:lnTo>
                <a:lnTo>
                  <a:pt x="0" y="6390314"/>
                </a:lnTo>
                <a:lnTo>
                  <a:pt x="0" y="0"/>
                </a:lnTo>
                <a:close/>
              </a:path>
            </a:pathLst>
          </a:custGeom>
          <a:blipFill>
            <a:blip r:embed="rId2"/>
            <a:stretch>
              <a:fillRect l="0" t="0" r="-151" b="0"/>
            </a:stretch>
          </a:blipFill>
        </p:spPr>
      </p:sp>
      <p:sp>
        <p:nvSpPr>
          <p:cNvPr name="TextBox 4" id="4"/>
          <p:cNvSpPr txBox="true"/>
          <p:nvPr/>
        </p:nvSpPr>
        <p:spPr>
          <a:xfrm rot="0">
            <a:off x="1754814" y="273414"/>
            <a:ext cx="15630968" cy="923925"/>
          </a:xfrm>
          <a:prstGeom prst="rect">
            <a:avLst/>
          </a:prstGeom>
        </p:spPr>
        <p:txBody>
          <a:bodyPr anchor="t" rtlCol="false" tIns="0" lIns="0" bIns="0" rIns="0">
            <a:spAutoFit/>
          </a:bodyPr>
          <a:lstStyle/>
          <a:p>
            <a:pPr algn="l">
              <a:lnSpc>
                <a:spcPts val="6600"/>
              </a:lnSpc>
            </a:pPr>
            <a:r>
              <a:rPr lang="en-US" sz="5000">
                <a:solidFill>
                  <a:srgbClr val="1C1B19"/>
                </a:solidFill>
                <a:latin typeface="Gill Sans Condensed"/>
                <a:ea typeface="Gill Sans Condensed"/>
                <a:cs typeface="Gill Sans Condensed"/>
                <a:sym typeface="Gill Sans Condensed"/>
              </a:rPr>
              <a:t>NUESTRA PROBLEMÁTICA</a:t>
            </a:r>
          </a:p>
        </p:txBody>
      </p:sp>
      <p:sp>
        <p:nvSpPr>
          <p:cNvPr name="TextBox 5" id="5"/>
          <p:cNvSpPr txBox="true"/>
          <p:nvPr/>
        </p:nvSpPr>
        <p:spPr>
          <a:xfrm rot="0">
            <a:off x="1754814" y="1140189"/>
            <a:ext cx="16577425" cy="1218121"/>
          </a:xfrm>
          <a:prstGeom prst="rect">
            <a:avLst/>
          </a:prstGeom>
        </p:spPr>
        <p:txBody>
          <a:bodyPr anchor="t" rtlCol="false" tIns="0" lIns="0" bIns="0" rIns="0">
            <a:spAutoFit/>
          </a:bodyPr>
          <a:lstStyle/>
          <a:p>
            <a:pPr algn="l">
              <a:lnSpc>
                <a:spcPts val="3248"/>
              </a:lnSpc>
            </a:pPr>
            <a:r>
              <a:rPr lang="en-US" sz="2320">
                <a:solidFill>
                  <a:srgbClr val="242424"/>
                </a:solidFill>
                <a:latin typeface="TT Chocolates"/>
                <a:ea typeface="TT Chocolates"/>
                <a:cs typeface="TT Chocolates"/>
                <a:sym typeface="TT Chocolates"/>
              </a:rPr>
              <a:t>Lima enfrenta una situación de presión y desigualdad en el acceso y uso del recurso</a:t>
            </a:r>
            <a:r>
              <a:rPr lang="en-US" sz="2320">
                <a:solidFill>
                  <a:srgbClr val="242424"/>
                </a:solidFill>
                <a:latin typeface="TT Chocolates"/>
                <a:ea typeface="TT Chocolates"/>
                <a:cs typeface="TT Chocolates"/>
                <a:sym typeface="TT Chocolates"/>
              </a:rPr>
              <a:t> hídrico, mientras que el mantenimiento de parques y jardines requiere un consumo continuo de agua, se muestra que:</a:t>
            </a:r>
          </a:p>
          <a:p>
            <a:pPr algn="l" marL="0" indent="0" lvl="0">
              <a:lnSpc>
                <a:spcPts val="3248"/>
              </a:lnSpc>
            </a:pPr>
          </a:p>
        </p:txBody>
      </p:sp>
      <p:sp>
        <p:nvSpPr>
          <p:cNvPr name="TextBox 6" id="6"/>
          <p:cNvSpPr txBox="true"/>
          <p:nvPr/>
        </p:nvSpPr>
        <p:spPr>
          <a:xfrm rot="0">
            <a:off x="1754814" y="8550275"/>
            <a:ext cx="15748436" cy="1736725"/>
          </a:xfrm>
          <a:prstGeom prst="rect">
            <a:avLst/>
          </a:prstGeom>
        </p:spPr>
        <p:txBody>
          <a:bodyPr anchor="t" rtlCol="false" tIns="0" lIns="0" bIns="0" rIns="0">
            <a:spAutoFit/>
          </a:bodyPr>
          <a:lstStyle/>
          <a:p>
            <a:pPr algn="l">
              <a:lnSpc>
                <a:spcPts val="3499"/>
              </a:lnSpc>
            </a:pPr>
            <a:r>
              <a:rPr lang="en-US" sz="2499" b="true">
                <a:solidFill>
                  <a:srgbClr val="242424"/>
                </a:solidFill>
                <a:latin typeface="TT Chocolates Bold"/>
                <a:ea typeface="TT Chocolates Bold"/>
                <a:cs typeface="TT Chocolates Bold"/>
                <a:sym typeface="TT Chocolates Bold"/>
              </a:rPr>
              <a:t>FORMULACIÓN DEL PROBLEMA</a:t>
            </a:r>
          </a:p>
          <a:p>
            <a:pPr algn="l">
              <a:lnSpc>
                <a:spcPts val="3499"/>
              </a:lnSpc>
            </a:pPr>
            <a:r>
              <a:rPr lang="en-US" sz="2499">
                <a:solidFill>
                  <a:srgbClr val="242424"/>
                </a:solidFill>
                <a:latin typeface="TT Chocolates"/>
                <a:ea typeface="TT Chocolates"/>
                <a:cs typeface="TT Chocolates"/>
                <a:sym typeface="TT Chocolates"/>
              </a:rPr>
              <a:t>¿Cómo podemos mejorar la gestión del agua utilizada para el riego de parques y jardines urbanos, reduciendo el uso innecesario del recurso</a:t>
            </a:r>
            <a:r>
              <a:rPr lang="en-US" sz="2499">
                <a:solidFill>
                  <a:srgbClr val="242424"/>
                </a:solidFill>
                <a:latin typeface="TT Chocolates"/>
                <a:ea typeface="TT Chocolates"/>
                <a:cs typeface="TT Chocolates"/>
                <a:sym typeface="TT Chocolates"/>
              </a:rPr>
              <a:t> sin comprometer el mantenimiento de las áreas verdes?</a:t>
            </a:r>
          </a:p>
          <a:p>
            <a:pPr algn="l" marL="0" indent="0" lvl="0">
              <a:lnSpc>
                <a:spcPts val="34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grpSp>
        <p:nvGrpSpPr>
          <p:cNvPr name="Group 3" id="3"/>
          <p:cNvGrpSpPr/>
          <p:nvPr/>
        </p:nvGrpSpPr>
        <p:grpSpPr>
          <a:xfrm rot="0">
            <a:off x="1648703" y="407096"/>
            <a:ext cx="15610597" cy="791414"/>
            <a:chOff x="0" y="0"/>
            <a:chExt cx="10397610" cy="527130"/>
          </a:xfrm>
        </p:grpSpPr>
        <p:sp>
          <p:nvSpPr>
            <p:cNvPr name="Freeform 4" id="4"/>
            <p:cNvSpPr/>
            <p:nvPr/>
          </p:nvSpPr>
          <p:spPr>
            <a:xfrm flipH="false" flipV="false" rot="0">
              <a:off x="0" y="0"/>
              <a:ext cx="10397610" cy="527130"/>
            </a:xfrm>
            <a:custGeom>
              <a:avLst/>
              <a:gdLst/>
              <a:ahLst/>
              <a:cxnLst/>
              <a:rect r="r" b="b" t="t" l="l"/>
              <a:pathLst>
                <a:path h="527130" w="10397610">
                  <a:moveTo>
                    <a:pt x="0" y="0"/>
                  </a:moveTo>
                  <a:lnTo>
                    <a:pt x="10397610" y="0"/>
                  </a:lnTo>
                  <a:lnTo>
                    <a:pt x="10397610" y="527130"/>
                  </a:lnTo>
                  <a:lnTo>
                    <a:pt x="0" y="527130"/>
                  </a:lnTo>
                  <a:close/>
                </a:path>
              </a:pathLst>
            </a:custGeom>
            <a:ln w="66675" cap="sq">
              <a:solidFill>
                <a:srgbClr val="8FA4E1"/>
              </a:solidFill>
              <a:prstDash val="solid"/>
              <a:miter/>
            </a:ln>
          </p:spPr>
        </p:sp>
        <p:sp>
          <p:nvSpPr>
            <p:cNvPr name="TextBox 5" id="5"/>
            <p:cNvSpPr txBox="true"/>
            <p:nvPr/>
          </p:nvSpPr>
          <p:spPr>
            <a:xfrm>
              <a:off x="0" y="-47625"/>
              <a:ext cx="10397610" cy="574755"/>
            </a:xfrm>
            <a:prstGeom prst="rect">
              <a:avLst/>
            </a:prstGeom>
          </p:spPr>
          <p:txBody>
            <a:bodyPr anchor="ctr" rtlCol="false" tIns="48876" lIns="48876" bIns="48876" rIns="48876"/>
            <a:lstStyle/>
            <a:p>
              <a:pPr algn="ctr">
                <a:lnSpc>
                  <a:spcPts val="1588"/>
                </a:lnSpc>
              </a:pPr>
            </a:p>
          </p:txBody>
        </p:sp>
      </p:grpSp>
      <p:sp>
        <p:nvSpPr>
          <p:cNvPr name="Freeform 6" id="6"/>
          <p:cNvSpPr/>
          <p:nvPr/>
        </p:nvSpPr>
        <p:spPr>
          <a:xfrm flipH="false" flipV="false" rot="0">
            <a:off x="11737595" y="1901198"/>
            <a:ext cx="5521705" cy="6904920"/>
          </a:xfrm>
          <a:custGeom>
            <a:avLst/>
            <a:gdLst/>
            <a:ahLst/>
            <a:cxnLst/>
            <a:rect r="r" b="b" t="t" l="l"/>
            <a:pathLst>
              <a:path h="6904920" w="5521705">
                <a:moveTo>
                  <a:pt x="0" y="0"/>
                </a:moveTo>
                <a:lnTo>
                  <a:pt x="5521705" y="0"/>
                </a:lnTo>
                <a:lnTo>
                  <a:pt x="5521705" y="6904920"/>
                </a:lnTo>
                <a:lnTo>
                  <a:pt x="0" y="6904920"/>
                </a:lnTo>
                <a:lnTo>
                  <a:pt x="0" y="0"/>
                </a:lnTo>
                <a:close/>
              </a:path>
            </a:pathLst>
          </a:custGeom>
          <a:blipFill>
            <a:blip r:embed="rId2"/>
            <a:stretch>
              <a:fillRect l="0" t="0" r="0" b="0"/>
            </a:stretch>
          </a:blipFill>
        </p:spPr>
      </p:sp>
      <p:sp>
        <p:nvSpPr>
          <p:cNvPr name="TextBox 7" id="7"/>
          <p:cNvSpPr txBox="true"/>
          <p:nvPr/>
        </p:nvSpPr>
        <p:spPr>
          <a:xfrm rot="0">
            <a:off x="1854018" y="2301965"/>
            <a:ext cx="9274043" cy="6065287"/>
          </a:xfrm>
          <a:prstGeom prst="rect">
            <a:avLst/>
          </a:prstGeom>
        </p:spPr>
        <p:txBody>
          <a:bodyPr anchor="t" rtlCol="false" tIns="0" lIns="0" bIns="0" rIns="0">
            <a:spAutoFit/>
          </a:bodyPr>
          <a:lstStyle/>
          <a:p>
            <a:pPr algn="l">
              <a:lnSpc>
                <a:spcPts val="3724"/>
              </a:lnSpc>
            </a:pPr>
            <a:r>
              <a:rPr lang="en-US" sz="2821" b="true">
                <a:solidFill>
                  <a:srgbClr val="1C1B19"/>
                </a:solidFill>
                <a:latin typeface="DM Sans Bold"/>
                <a:ea typeface="DM Sans Bold"/>
                <a:cs typeface="DM Sans Bold"/>
                <a:sym typeface="DM Sans Bold"/>
              </a:rPr>
              <a:t>ODS 6 — Agua limpia y saneamiento</a:t>
            </a:r>
          </a:p>
          <a:p>
            <a:pPr algn="l">
              <a:lnSpc>
                <a:spcPts val="3724"/>
              </a:lnSpc>
            </a:pPr>
          </a:p>
          <a:p>
            <a:pPr algn="l">
              <a:lnSpc>
                <a:spcPts val="3724"/>
              </a:lnSpc>
            </a:pPr>
            <a:r>
              <a:rPr lang="en-US" sz="2821">
                <a:solidFill>
                  <a:srgbClr val="1C1B19"/>
                </a:solidFill>
                <a:latin typeface="DM Sans"/>
                <a:ea typeface="DM Sans"/>
                <a:cs typeface="DM Sans"/>
                <a:sym typeface="DM Sans"/>
              </a:rPr>
              <a:t>Meta 6.4: De aquí a 2030, aumentar considerablemente la eficiencia en el uso del agua y asegurar un abastecimiento sostenible de agua dulce frente a la escasez hídrica. </a:t>
            </a:r>
          </a:p>
          <a:p>
            <a:pPr algn="l">
              <a:lnSpc>
                <a:spcPts val="3724"/>
              </a:lnSpc>
            </a:pPr>
          </a:p>
          <a:p>
            <a:pPr algn="l">
              <a:lnSpc>
                <a:spcPts val="3724"/>
              </a:lnSpc>
            </a:pPr>
            <a:r>
              <a:rPr lang="en-US" sz="2821">
                <a:solidFill>
                  <a:srgbClr val="1C1B19"/>
                </a:solidFill>
                <a:latin typeface="DM Sans"/>
                <a:ea typeface="DM Sans"/>
                <a:cs typeface="DM Sans"/>
                <a:sym typeface="DM Sans"/>
              </a:rPr>
              <a:t>Indicador 6.4.1: Cambio en la eficiencia del uso del agua a lo largo del tiempo. </a:t>
            </a:r>
          </a:p>
          <a:p>
            <a:pPr algn="l">
              <a:lnSpc>
                <a:spcPts val="3724"/>
              </a:lnSpc>
            </a:pPr>
          </a:p>
          <a:p>
            <a:pPr algn="l">
              <a:lnSpc>
                <a:spcPts val="3724"/>
              </a:lnSpc>
            </a:pPr>
            <a:r>
              <a:rPr lang="en-US" sz="2821">
                <a:solidFill>
                  <a:srgbClr val="1C1B19"/>
                </a:solidFill>
                <a:latin typeface="DM Sans"/>
                <a:ea typeface="DM Sans"/>
                <a:cs typeface="DM Sans"/>
                <a:sym typeface="DM Sans"/>
              </a:rPr>
              <a:t>Relación con el proyecto: optimizar el riego mediante sensores y automatización para evitar el uso innecesario de agua.</a:t>
            </a:r>
          </a:p>
        </p:txBody>
      </p:sp>
      <p:sp>
        <p:nvSpPr>
          <p:cNvPr name="TextBox 8" id="8"/>
          <p:cNvSpPr txBox="true"/>
          <p:nvPr/>
        </p:nvSpPr>
        <p:spPr>
          <a:xfrm rot="0">
            <a:off x="1854018" y="622891"/>
            <a:ext cx="13203457" cy="331247"/>
          </a:xfrm>
          <a:prstGeom prst="rect">
            <a:avLst/>
          </a:prstGeom>
        </p:spPr>
        <p:txBody>
          <a:bodyPr anchor="t" rtlCol="false" tIns="0" lIns="0" bIns="0" rIns="0">
            <a:spAutoFit/>
          </a:bodyPr>
          <a:lstStyle/>
          <a:p>
            <a:pPr algn="l">
              <a:lnSpc>
                <a:spcPts val="2659"/>
              </a:lnSpc>
            </a:pPr>
            <a:r>
              <a:rPr lang="en-US" sz="2014" b="true">
                <a:solidFill>
                  <a:srgbClr val="1C1B19"/>
                </a:solidFill>
                <a:latin typeface="DM Sans Bold"/>
                <a:ea typeface="DM Sans Bold"/>
                <a:cs typeface="DM Sans Bold"/>
                <a:sym typeface="DM Sans Bold"/>
              </a:rPr>
              <a:t>ODS PRINCIPAL</a:t>
            </a:r>
          </a:p>
        </p:txBody>
      </p:sp>
      <p:sp>
        <p:nvSpPr>
          <p:cNvPr name="TextBox 9" id="9"/>
          <p:cNvSpPr txBox="true"/>
          <p:nvPr/>
        </p:nvSpPr>
        <p:spPr>
          <a:xfrm rot="0">
            <a:off x="1432176" y="9453818"/>
            <a:ext cx="16043651" cy="711200"/>
          </a:xfrm>
          <a:prstGeom prst="rect">
            <a:avLst/>
          </a:prstGeom>
        </p:spPr>
        <p:txBody>
          <a:bodyPr anchor="t" rtlCol="false" tIns="0" lIns="0" bIns="0" rIns="0">
            <a:spAutoFit/>
          </a:bodyPr>
          <a:lstStyle/>
          <a:p>
            <a:pPr algn="l" marL="0" indent="0" lvl="0">
              <a:lnSpc>
                <a:spcPts val="2800"/>
              </a:lnSpc>
            </a:pPr>
            <a:r>
              <a:rPr lang="en-US" sz="2000">
                <a:solidFill>
                  <a:srgbClr val="242424"/>
                </a:solidFill>
                <a:latin typeface="TT Chocolates"/>
                <a:ea typeface="TT Chocolates"/>
                <a:cs typeface="TT Chocolates"/>
                <a:sym typeface="TT Chocolates"/>
              </a:rPr>
              <a:t>[4] United Nations Department of Economic and Social Affairs. Goal 11: Sustainable cities and communities [Internet]. New York: United Nations; 2026 [citado 16 sep 2026]. Disponible en: </a:t>
            </a:r>
            <a:r>
              <a:rPr lang="en-US" sz="2000" u="sng">
                <a:solidFill>
                  <a:srgbClr val="242424"/>
                </a:solidFill>
                <a:latin typeface="TT Chocolates"/>
                <a:ea typeface="TT Chocolates"/>
                <a:cs typeface="TT Chocolates"/>
                <a:sym typeface="TT Chocolates"/>
                <a:hlinkClick r:id="rId3" tooltip="https://sdgs.un.org/goals/goal11"/>
              </a:rPr>
              <a:t>https://sdgs.un.org/goals/goal1</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grpSp>
        <p:nvGrpSpPr>
          <p:cNvPr name="Group 3" id="3"/>
          <p:cNvGrpSpPr/>
          <p:nvPr/>
        </p:nvGrpSpPr>
        <p:grpSpPr>
          <a:xfrm rot="0">
            <a:off x="1726932" y="373721"/>
            <a:ext cx="3504650" cy="791414"/>
            <a:chOff x="0" y="0"/>
            <a:chExt cx="2334311" cy="527130"/>
          </a:xfrm>
        </p:grpSpPr>
        <p:sp>
          <p:nvSpPr>
            <p:cNvPr name="Freeform 4" id="4"/>
            <p:cNvSpPr/>
            <p:nvPr/>
          </p:nvSpPr>
          <p:spPr>
            <a:xfrm flipH="false" flipV="false" rot="0">
              <a:off x="0" y="0"/>
              <a:ext cx="2334311" cy="527130"/>
            </a:xfrm>
            <a:custGeom>
              <a:avLst/>
              <a:gdLst/>
              <a:ahLst/>
              <a:cxnLst/>
              <a:rect r="r" b="b" t="t" l="l"/>
              <a:pathLst>
                <a:path h="527130" w="2334311">
                  <a:moveTo>
                    <a:pt x="0" y="0"/>
                  </a:moveTo>
                  <a:lnTo>
                    <a:pt x="2334311" y="0"/>
                  </a:lnTo>
                  <a:lnTo>
                    <a:pt x="2334311" y="527130"/>
                  </a:lnTo>
                  <a:lnTo>
                    <a:pt x="0" y="527130"/>
                  </a:lnTo>
                  <a:close/>
                </a:path>
              </a:pathLst>
            </a:custGeom>
            <a:ln w="66675" cap="sq">
              <a:solidFill>
                <a:srgbClr val="8FA4E1"/>
              </a:solidFill>
              <a:prstDash val="solid"/>
              <a:miter/>
            </a:ln>
          </p:spPr>
        </p:sp>
        <p:sp>
          <p:nvSpPr>
            <p:cNvPr name="TextBox 5" id="5"/>
            <p:cNvSpPr txBox="true"/>
            <p:nvPr/>
          </p:nvSpPr>
          <p:spPr>
            <a:xfrm>
              <a:off x="0" y="-47625"/>
              <a:ext cx="2334311" cy="574755"/>
            </a:xfrm>
            <a:prstGeom prst="rect">
              <a:avLst/>
            </a:prstGeom>
          </p:spPr>
          <p:txBody>
            <a:bodyPr anchor="ctr" rtlCol="false" tIns="48876" lIns="48876" bIns="48876" rIns="48876"/>
            <a:lstStyle/>
            <a:p>
              <a:pPr algn="ctr">
                <a:lnSpc>
                  <a:spcPts val="1588"/>
                </a:lnSpc>
              </a:pPr>
            </a:p>
          </p:txBody>
        </p:sp>
      </p:grpSp>
      <p:sp>
        <p:nvSpPr>
          <p:cNvPr name="TextBox 6" id="6"/>
          <p:cNvSpPr txBox="true"/>
          <p:nvPr/>
        </p:nvSpPr>
        <p:spPr>
          <a:xfrm rot="0">
            <a:off x="1726932" y="1632193"/>
            <a:ext cx="15728387" cy="3108857"/>
          </a:xfrm>
          <a:prstGeom prst="rect">
            <a:avLst/>
          </a:prstGeom>
        </p:spPr>
        <p:txBody>
          <a:bodyPr anchor="t" rtlCol="false" tIns="0" lIns="0" bIns="0" rIns="0">
            <a:spAutoFit/>
          </a:bodyPr>
          <a:lstStyle/>
          <a:p>
            <a:pPr algn="l">
              <a:lnSpc>
                <a:spcPts val="3118"/>
              </a:lnSpc>
            </a:pPr>
            <a:r>
              <a:rPr lang="en-US" sz="2362" b="true">
                <a:solidFill>
                  <a:srgbClr val="1C1B19"/>
                </a:solidFill>
                <a:latin typeface="DM Sans Bold"/>
                <a:ea typeface="DM Sans Bold"/>
                <a:cs typeface="DM Sans Bold"/>
                <a:sym typeface="DM Sans Bold"/>
              </a:rPr>
              <a:t>ODS 11 — Ciudades y comunidades sostenibles </a:t>
            </a:r>
          </a:p>
          <a:p>
            <a:pPr algn="l">
              <a:lnSpc>
                <a:spcPts val="3118"/>
              </a:lnSpc>
            </a:pPr>
          </a:p>
          <a:p>
            <a:pPr algn="l">
              <a:lnSpc>
                <a:spcPts val="3118"/>
              </a:lnSpc>
            </a:pPr>
            <a:r>
              <a:rPr lang="en-US" sz="2362">
                <a:solidFill>
                  <a:srgbClr val="1C1B19"/>
                </a:solidFill>
                <a:latin typeface="DM Sans"/>
                <a:ea typeface="DM Sans"/>
                <a:cs typeface="DM Sans"/>
                <a:sym typeface="DM Sans"/>
              </a:rPr>
              <a:t>Meta 11.7: De aquí a 2030, proporcionar acceso universal a zonas verdes y espacios públicos seguros, inclusivos y accesibles. </a:t>
            </a:r>
          </a:p>
          <a:p>
            <a:pPr algn="l">
              <a:lnSpc>
                <a:spcPts val="3118"/>
              </a:lnSpc>
            </a:pPr>
            <a:r>
              <a:rPr lang="en-US" sz="2362">
                <a:solidFill>
                  <a:srgbClr val="1C1B19"/>
                </a:solidFill>
                <a:latin typeface="DM Sans"/>
                <a:ea typeface="DM Sans"/>
                <a:cs typeface="DM Sans"/>
                <a:sym typeface="DM Sans"/>
              </a:rPr>
              <a:t>Indicador 11.7.1: Proporción media del área construida de las ciudades destinada a espacios abiertos de uso público. </a:t>
            </a:r>
          </a:p>
          <a:p>
            <a:pPr algn="l">
              <a:lnSpc>
                <a:spcPts val="3118"/>
              </a:lnSpc>
            </a:pPr>
            <a:r>
              <a:rPr lang="en-US" sz="2362">
                <a:solidFill>
                  <a:srgbClr val="1C1B19"/>
                </a:solidFill>
                <a:latin typeface="DM Sans"/>
                <a:ea typeface="DM Sans"/>
                <a:cs typeface="DM Sans"/>
                <a:sym typeface="DM Sans"/>
              </a:rPr>
              <a:t>Relación con el proyecto: contribuir al mantenimiento sostenible de jardines y áreas verdes urbanas.</a:t>
            </a:r>
          </a:p>
          <a:p>
            <a:pPr algn="l">
              <a:lnSpc>
                <a:spcPts val="3118"/>
              </a:lnSpc>
            </a:pPr>
          </a:p>
        </p:txBody>
      </p:sp>
      <p:sp>
        <p:nvSpPr>
          <p:cNvPr name="TextBox 7" id="7"/>
          <p:cNvSpPr txBox="true"/>
          <p:nvPr/>
        </p:nvSpPr>
        <p:spPr>
          <a:xfrm rot="0">
            <a:off x="1674426" y="5207775"/>
            <a:ext cx="15584874" cy="2594672"/>
          </a:xfrm>
          <a:prstGeom prst="rect">
            <a:avLst/>
          </a:prstGeom>
        </p:spPr>
        <p:txBody>
          <a:bodyPr anchor="t" rtlCol="false" tIns="0" lIns="0" bIns="0" rIns="0">
            <a:spAutoFit/>
          </a:bodyPr>
          <a:lstStyle/>
          <a:p>
            <a:pPr algn="l">
              <a:lnSpc>
                <a:spcPts val="2964"/>
              </a:lnSpc>
            </a:pPr>
            <a:r>
              <a:rPr lang="en-US" sz="2245" b="true">
                <a:solidFill>
                  <a:srgbClr val="1C1B19"/>
                </a:solidFill>
                <a:latin typeface="DM Sans Bold"/>
                <a:ea typeface="DM Sans Bold"/>
                <a:cs typeface="DM Sans Bold"/>
                <a:sym typeface="DM Sans Bold"/>
              </a:rPr>
              <a:t>ODS 9 — Industria, innovación e infraestructura</a:t>
            </a:r>
          </a:p>
          <a:p>
            <a:pPr algn="l">
              <a:lnSpc>
                <a:spcPts val="2964"/>
              </a:lnSpc>
            </a:pPr>
            <a:r>
              <a:rPr lang="en-US" sz="2245">
                <a:solidFill>
                  <a:srgbClr val="1C1B19"/>
                </a:solidFill>
                <a:latin typeface="DM Sans"/>
                <a:ea typeface="DM Sans"/>
                <a:cs typeface="DM Sans"/>
                <a:sym typeface="DM Sans"/>
              </a:rPr>
              <a:t>Meta 9.4: De aquí a 2030, modernizar la infraestructura y reconvertir las industrias para que sean sostenibles, utilizando los recursos con mayor eficiencia y promoviendo tecnologías y procesos ambientalmente racionales.</a:t>
            </a:r>
          </a:p>
          <a:p>
            <a:pPr algn="l">
              <a:lnSpc>
                <a:spcPts val="2964"/>
              </a:lnSpc>
            </a:pPr>
            <a:r>
              <a:rPr lang="en-US" sz="2245">
                <a:solidFill>
                  <a:srgbClr val="1C1B19"/>
                </a:solidFill>
                <a:latin typeface="DM Sans"/>
                <a:ea typeface="DM Sans"/>
                <a:cs typeface="DM Sans"/>
                <a:sym typeface="DM Sans"/>
              </a:rPr>
              <a:t>Indicador 9.4.1: Emisiones de CO₂ por unidad de valor añadido.</a:t>
            </a:r>
          </a:p>
          <a:p>
            <a:pPr algn="l">
              <a:lnSpc>
                <a:spcPts val="2964"/>
              </a:lnSpc>
            </a:pPr>
            <a:r>
              <a:rPr lang="en-US" sz="2245">
                <a:solidFill>
                  <a:srgbClr val="1C1B19"/>
                </a:solidFill>
                <a:latin typeface="DM Sans"/>
                <a:ea typeface="DM Sans"/>
                <a:cs typeface="DM Sans"/>
                <a:sym typeface="DM Sans"/>
              </a:rPr>
              <a:t>Relación con el proyecto: aplicar innovación tecnológica mediante sensores y automatización para mejorar la gestión del riego, optimizar el uso de recursos y favorecer procesos de mantenimiento más sostenibles.</a:t>
            </a:r>
          </a:p>
          <a:p>
            <a:pPr algn="l">
              <a:lnSpc>
                <a:spcPts val="2964"/>
              </a:lnSpc>
            </a:pPr>
          </a:p>
        </p:txBody>
      </p:sp>
      <p:sp>
        <p:nvSpPr>
          <p:cNvPr name="TextBox 8" id="8"/>
          <p:cNvSpPr txBox="true"/>
          <p:nvPr/>
        </p:nvSpPr>
        <p:spPr>
          <a:xfrm rot="0">
            <a:off x="2128654" y="589516"/>
            <a:ext cx="2701206" cy="331247"/>
          </a:xfrm>
          <a:prstGeom prst="rect">
            <a:avLst/>
          </a:prstGeom>
        </p:spPr>
        <p:txBody>
          <a:bodyPr anchor="t" rtlCol="false" tIns="0" lIns="0" bIns="0" rIns="0">
            <a:spAutoFit/>
          </a:bodyPr>
          <a:lstStyle/>
          <a:p>
            <a:pPr algn="l">
              <a:lnSpc>
                <a:spcPts val="2659"/>
              </a:lnSpc>
            </a:pPr>
            <a:r>
              <a:rPr lang="en-US" sz="2014" b="true">
                <a:solidFill>
                  <a:srgbClr val="1C1B19"/>
                </a:solidFill>
                <a:latin typeface="DM Sans Bold"/>
                <a:ea typeface="DM Sans Bold"/>
                <a:cs typeface="DM Sans Bold"/>
                <a:sym typeface="DM Sans Bold"/>
              </a:rPr>
              <a:t>ODS SECUNDARIAS</a:t>
            </a:r>
          </a:p>
        </p:txBody>
      </p:sp>
      <p:sp>
        <p:nvSpPr>
          <p:cNvPr name="TextBox 9" id="9"/>
          <p:cNvSpPr txBox="true"/>
          <p:nvPr/>
        </p:nvSpPr>
        <p:spPr>
          <a:xfrm rot="0">
            <a:off x="1569300" y="8518525"/>
            <a:ext cx="16043651" cy="1768475"/>
          </a:xfrm>
          <a:prstGeom prst="rect">
            <a:avLst/>
          </a:prstGeom>
        </p:spPr>
        <p:txBody>
          <a:bodyPr anchor="t" rtlCol="false" tIns="0" lIns="0" bIns="0" rIns="0">
            <a:spAutoFit/>
          </a:bodyPr>
          <a:lstStyle/>
          <a:p>
            <a:pPr algn="l">
              <a:lnSpc>
                <a:spcPts val="2800"/>
              </a:lnSpc>
            </a:pPr>
            <a:r>
              <a:rPr lang="en-US" sz="2000">
                <a:solidFill>
                  <a:srgbClr val="242424"/>
                </a:solidFill>
                <a:latin typeface="TT Chocolates"/>
                <a:ea typeface="TT Chocolates"/>
                <a:cs typeface="TT Chocolates"/>
                <a:sym typeface="TT Chocolates"/>
              </a:rPr>
              <a:t>[5] United Nations Department of Economic and Social Affairs. Goal 6: Clean water and sanitation [Internet]. New York: United Nations; 2026 [citado 16 sep 2026]. Disponible en: </a:t>
            </a:r>
            <a:r>
              <a:rPr lang="en-US" sz="2000" u="sng">
                <a:solidFill>
                  <a:srgbClr val="242424"/>
                </a:solidFill>
                <a:latin typeface="TT Chocolates"/>
                <a:ea typeface="TT Chocolates"/>
                <a:cs typeface="TT Chocolates"/>
                <a:sym typeface="TT Chocolates"/>
                <a:hlinkClick r:id="rId2" tooltip="https://sdgs.un.org/goals/goal6"/>
              </a:rPr>
              <a:t>https://sdgs.un.org/goals/goal6</a:t>
            </a:r>
          </a:p>
          <a:p>
            <a:pPr algn="l">
              <a:lnSpc>
                <a:spcPts val="2800"/>
              </a:lnSpc>
            </a:pPr>
            <a:r>
              <a:rPr lang="en-US" sz="2000">
                <a:solidFill>
                  <a:srgbClr val="242424"/>
                </a:solidFill>
                <a:latin typeface="TT Chocolates"/>
                <a:ea typeface="TT Chocolates"/>
                <a:cs typeface="TT Chocolates"/>
                <a:sym typeface="TT Chocolates"/>
              </a:rPr>
              <a:t>[6] United Nations Department of Economic and Social Affairs. Goal 9: Industry, innovation and infrastructure [Internet]. New York: United Nations; 2026 [citado 16 sep 2026]. Disponible en: </a:t>
            </a:r>
            <a:r>
              <a:rPr lang="en-US" sz="2000" u="sng">
                <a:solidFill>
                  <a:srgbClr val="242424"/>
                </a:solidFill>
                <a:latin typeface="TT Chocolates"/>
                <a:ea typeface="TT Chocolates"/>
                <a:cs typeface="TT Chocolates"/>
                <a:sym typeface="TT Chocolates"/>
                <a:hlinkClick r:id="rId3" tooltip="https://sdgs.un.org/goals/goal9"/>
              </a:rPr>
              <a:t>https://sdgs.un.org/goals/goal9</a:t>
            </a:r>
          </a:p>
          <a:p>
            <a:pPr algn="l" marL="0" indent="0" lvl="0">
              <a:lnSpc>
                <a:spcPts val="28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Freeform 2" id="2"/>
          <p:cNvSpPr/>
          <p:nvPr/>
        </p:nvSpPr>
        <p:spPr>
          <a:xfrm flipH="false" flipV="false" rot="0">
            <a:off x="-518678" y="2593324"/>
            <a:ext cx="17957810" cy="5733615"/>
          </a:xfrm>
          <a:custGeom>
            <a:avLst/>
            <a:gdLst/>
            <a:ahLst/>
            <a:cxnLst/>
            <a:rect r="r" b="b" t="t" l="l"/>
            <a:pathLst>
              <a:path h="5733615" w="17957810">
                <a:moveTo>
                  <a:pt x="0" y="0"/>
                </a:moveTo>
                <a:lnTo>
                  <a:pt x="17957810" y="0"/>
                </a:lnTo>
                <a:lnTo>
                  <a:pt x="17957810" y="5733614"/>
                </a:lnTo>
                <a:lnTo>
                  <a:pt x="0" y="5733614"/>
                </a:lnTo>
                <a:lnTo>
                  <a:pt x="0" y="0"/>
                </a:lnTo>
                <a:close/>
              </a:path>
            </a:pathLst>
          </a:custGeom>
          <a:blipFill>
            <a:blip r:embed="rId2"/>
            <a:stretch>
              <a:fillRect l="0" t="0" r="0" b="0"/>
            </a:stretch>
          </a:blipFill>
        </p:spPr>
      </p:sp>
      <p:sp>
        <p:nvSpPr>
          <p:cNvPr name="AutoShape 3" id="3"/>
          <p:cNvSpPr/>
          <p:nvPr/>
        </p:nvSpPr>
        <p:spPr>
          <a:xfrm rot="0">
            <a:off x="16908188" y="-1804854"/>
            <a:ext cx="1379812" cy="12299202"/>
          </a:xfrm>
          <a:prstGeom prst="rect">
            <a:avLst/>
          </a:prstGeom>
          <a:solidFill>
            <a:srgbClr val="CFDBFF"/>
          </a:solidFill>
        </p:spPr>
      </p:sp>
      <p:sp>
        <p:nvSpPr>
          <p:cNvPr name="TextBox 4" id="4"/>
          <p:cNvSpPr txBox="true"/>
          <p:nvPr/>
        </p:nvSpPr>
        <p:spPr>
          <a:xfrm rot="0">
            <a:off x="483119" y="334902"/>
            <a:ext cx="15630968" cy="923925"/>
          </a:xfrm>
          <a:prstGeom prst="rect">
            <a:avLst/>
          </a:prstGeom>
        </p:spPr>
        <p:txBody>
          <a:bodyPr anchor="t" rtlCol="false" tIns="0" lIns="0" bIns="0" rIns="0">
            <a:spAutoFit/>
          </a:bodyPr>
          <a:lstStyle/>
          <a:p>
            <a:pPr algn="l">
              <a:lnSpc>
                <a:spcPts val="6600"/>
              </a:lnSpc>
            </a:pPr>
            <a:r>
              <a:rPr lang="en-US" sz="5000">
                <a:solidFill>
                  <a:srgbClr val="1C1B19"/>
                </a:solidFill>
                <a:latin typeface="Gill Sans Condensed"/>
                <a:ea typeface="Gill Sans Condensed"/>
                <a:cs typeface="Gill Sans Condensed"/>
                <a:sym typeface="Gill Sans Condensed"/>
              </a:rPr>
              <a:t>NUESTRA SOLUCIÓN</a:t>
            </a:r>
          </a:p>
        </p:txBody>
      </p:sp>
      <p:sp>
        <p:nvSpPr>
          <p:cNvPr name="TextBox 5" id="5"/>
          <p:cNvSpPr txBox="true"/>
          <p:nvPr/>
        </p:nvSpPr>
        <p:spPr>
          <a:xfrm rot="0">
            <a:off x="483119" y="1372828"/>
            <a:ext cx="15630968" cy="1039521"/>
          </a:xfrm>
          <a:prstGeom prst="rect">
            <a:avLst/>
          </a:prstGeom>
        </p:spPr>
        <p:txBody>
          <a:bodyPr anchor="t" rtlCol="false" tIns="0" lIns="0" bIns="0" rIns="0">
            <a:spAutoFit/>
          </a:bodyPr>
          <a:lstStyle/>
          <a:p>
            <a:pPr algn="l" marL="0" indent="0" lvl="0">
              <a:lnSpc>
                <a:spcPts val="4146"/>
              </a:lnSpc>
            </a:pPr>
            <a:r>
              <a:rPr lang="en-US" sz="2961">
                <a:solidFill>
                  <a:srgbClr val="242424"/>
                </a:solidFill>
                <a:latin typeface="TT Chocolates"/>
                <a:ea typeface="TT Chocolates"/>
                <a:cs typeface="TT Chocolates"/>
                <a:sym typeface="TT Chocolates"/>
              </a:rPr>
              <a:t>Sistema de riego automatizado con tecnología IoT diseñado para jardines y parques residenciales, que optimiza el consumo hídrico mediante decisiones basadas en la humedad real del suelo.</a:t>
            </a:r>
          </a:p>
        </p:txBody>
      </p:sp>
      <p:sp>
        <p:nvSpPr>
          <p:cNvPr name="TextBox 6" id="6"/>
          <p:cNvSpPr txBox="true"/>
          <p:nvPr/>
        </p:nvSpPr>
        <p:spPr>
          <a:xfrm rot="0">
            <a:off x="610535" y="8049910"/>
            <a:ext cx="16425069" cy="1039521"/>
          </a:xfrm>
          <a:prstGeom prst="rect">
            <a:avLst/>
          </a:prstGeom>
        </p:spPr>
        <p:txBody>
          <a:bodyPr anchor="t" rtlCol="false" tIns="0" lIns="0" bIns="0" rIns="0">
            <a:spAutoFit/>
          </a:bodyPr>
          <a:lstStyle/>
          <a:p>
            <a:pPr algn="l" marL="0" indent="0" lvl="0">
              <a:lnSpc>
                <a:spcPts val="4146"/>
              </a:lnSpc>
            </a:pPr>
            <a:r>
              <a:rPr lang="en-US" sz="2961">
                <a:solidFill>
                  <a:srgbClr val="242424"/>
                </a:solidFill>
                <a:latin typeface="TT Chocolates"/>
                <a:ea typeface="TT Chocolates"/>
                <a:cs typeface="TT Chocolates"/>
                <a:sym typeface="TT Chocolates"/>
              </a:rPr>
              <a:t>Reemplaza el riego por horario fijo, reduciendo el desperdicio de agua y garantizando la salud del suelo para cuidado de jardines y parques residenciales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584245" y="9404013"/>
            <a:ext cx="20408092" cy="2127629"/>
          </a:xfrm>
          <a:prstGeom prst="rect">
            <a:avLst/>
          </a:prstGeom>
          <a:solidFill>
            <a:srgbClr val="CFDBFF"/>
          </a:solidFill>
        </p:spPr>
      </p:sp>
      <p:sp>
        <p:nvSpPr>
          <p:cNvPr name="AutoShape 3" id="3"/>
          <p:cNvSpPr/>
          <p:nvPr/>
        </p:nvSpPr>
        <p:spPr>
          <a:xfrm rot="0">
            <a:off x="-921655" y="-1098929"/>
            <a:ext cx="20408092" cy="2127629"/>
          </a:xfrm>
          <a:prstGeom prst="rect">
            <a:avLst/>
          </a:prstGeom>
          <a:solidFill>
            <a:srgbClr val="CFDBFF"/>
          </a:solidFill>
        </p:spPr>
      </p:sp>
      <p:sp>
        <p:nvSpPr>
          <p:cNvPr name="TextBox 4" id="4"/>
          <p:cNvSpPr txBox="true"/>
          <p:nvPr/>
        </p:nvSpPr>
        <p:spPr>
          <a:xfrm rot="0">
            <a:off x="301448" y="104775"/>
            <a:ext cx="15630968" cy="923925"/>
          </a:xfrm>
          <a:prstGeom prst="rect">
            <a:avLst/>
          </a:prstGeom>
        </p:spPr>
        <p:txBody>
          <a:bodyPr anchor="t" rtlCol="false" tIns="0" lIns="0" bIns="0" rIns="0">
            <a:spAutoFit/>
          </a:bodyPr>
          <a:lstStyle/>
          <a:p>
            <a:pPr algn="l">
              <a:lnSpc>
                <a:spcPts val="6600"/>
              </a:lnSpc>
            </a:pPr>
            <a:r>
              <a:rPr lang="en-US" sz="5000">
                <a:solidFill>
                  <a:srgbClr val="1C1B19"/>
                </a:solidFill>
                <a:latin typeface="Gill Sans Condensed"/>
                <a:ea typeface="Gill Sans Condensed"/>
                <a:cs typeface="Gill Sans Condensed"/>
                <a:sym typeface="Gill Sans Condensed"/>
              </a:rPr>
              <a:t>REFERENCIAS</a:t>
            </a:r>
          </a:p>
        </p:txBody>
      </p:sp>
      <p:sp>
        <p:nvSpPr>
          <p:cNvPr name="TextBox 5" id="5"/>
          <p:cNvSpPr txBox="true"/>
          <p:nvPr/>
        </p:nvSpPr>
        <p:spPr>
          <a:xfrm rot="0">
            <a:off x="1701250" y="1877209"/>
            <a:ext cx="14885500" cy="6630670"/>
          </a:xfrm>
          <a:prstGeom prst="rect">
            <a:avLst/>
          </a:prstGeom>
        </p:spPr>
        <p:txBody>
          <a:bodyPr anchor="t" rtlCol="false" tIns="0" lIns="0" bIns="0" rIns="0">
            <a:spAutoFit/>
          </a:bodyPr>
          <a:lstStyle/>
          <a:p>
            <a:pPr algn="just">
              <a:lnSpc>
                <a:spcPts val="3079"/>
              </a:lnSpc>
            </a:pPr>
            <a:r>
              <a:rPr lang="en-US" sz="2199">
                <a:solidFill>
                  <a:srgbClr val="242424"/>
                </a:solidFill>
                <a:latin typeface="TT Chocolates"/>
                <a:ea typeface="TT Chocolates"/>
                <a:cs typeface="TT Chocolates"/>
                <a:sym typeface="TT Chocolates"/>
              </a:rPr>
              <a:t>[1] Autoridad Nacional del Agua. ANA pone en marcha política de uso de aguas subterráneas para combatir estrés hídrico [Internet]. Lima: ANA; 2025 [citado 16 sep 2026]. Disponible en: </a:t>
            </a:r>
            <a:r>
              <a:rPr lang="en-US" sz="2199" u="sng">
                <a:solidFill>
                  <a:srgbClr val="242424"/>
                </a:solidFill>
                <a:latin typeface="TT Chocolates"/>
                <a:ea typeface="TT Chocolates"/>
                <a:cs typeface="TT Chocolates"/>
                <a:sym typeface="TT Chocolates"/>
                <a:hlinkClick r:id="rId2" tooltip="https://www.gob.pe/institucion/ana/noticias/1107626-ana-pone-en-marcha-politica-de-uso-de-aguas-subterraneas-para-combatir-estres-hidrico"/>
              </a:rPr>
              <a:t>https://www.gob.pe/institucion/ana/noticias/1107626-ana-pone-en-marcha-politica-de-uso-de-aguas-subterraneas-para-combatir-estres-hidrico</a:t>
            </a:r>
          </a:p>
          <a:p>
            <a:pPr algn="just">
              <a:lnSpc>
                <a:spcPts val="3079"/>
              </a:lnSpc>
            </a:pPr>
            <a:r>
              <a:rPr lang="en-US" sz="2199">
                <a:solidFill>
                  <a:srgbClr val="242424"/>
                </a:solidFill>
                <a:latin typeface="TT Chocolates"/>
                <a:ea typeface="TT Chocolates"/>
                <a:cs typeface="TT Chocolates"/>
                <a:sym typeface="TT Chocolates"/>
              </a:rPr>
              <a:t>[2] Superintendencia Nacional de Servicios de Saneamiento. Consumo promedio de agua potable en Lima es de 134 litros al día por persona, con tendencia decreciente de 13 litros en la última década [Internet]. Lima: SUNASS; 2026 [citado 16 sep 2026]. Disponible en: </a:t>
            </a:r>
            <a:r>
              <a:rPr lang="en-US" sz="2199" u="sng">
                <a:solidFill>
                  <a:srgbClr val="242424"/>
                </a:solidFill>
                <a:latin typeface="TT Chocolates"/>
                <a:ea typeface="TT Chocolates"/>
                <a:cs typeface="TT Chocolates"/>
                <a:sym typeface="TT Chocolates"/>
                <a:hlinkClick r:id="rId3" tooltip="https://www.gob.pe/institucion/sunass/noticias/1350994-consumo-promedio-de-agua-potable-en-lima-es-de-134-litros-al-dia-por-persona-con-tendencia-decreciente-de-13-litros-en-la-ultima-decada"/>
              </a:rPr>
              <a:t>https://www.gob.pe/institucion/sunass/noticias/1350994-consumo-promedio-de-agua-potable-en-lima-es-de-134-litros-al-dia-por-persona-con-tendencia-decreciente-de-13-litros-en-la-ultima-decada</a:t>
            </a:r>
          </a:p>
          <a:p>
            <a:pPr algn="just">
              <a:lnSpc>
                <a:spcPts val="3079"/>
              </a:lnSpc>
            </a:pPr>
            <a:r>
              <a:rPr lang="en-US" sz="2199">
                <a:solidFill>
                  <a:srgbClr val="242424"/>
                </a:solidFill>
                <a:latin typeface="TT Chocolates"/>
                <a:ea typeface="TT Chocolates"/>
                <a:cs typeface="TT Chocolates"/>
                <a:sym typeface="TT Chocolates"/>
              </a:rPr>
              <a:t>[3] Municipalidad Distrital de Miraflores. Miraflores redujo uso de agua potable para el riego de parques y jardines [Internet]. Miraflores: Municipalidad de Miraflores; 2024 [citado 16 sep 2026]. Disponible en: </a:t>
            </a:r>
            <a:r>
              <a:rPr lang="en-US" sz="2199" u="sng">
                <a:solidFill>
                  <a:srgbClr val="242424"/>
                </a:solidFill>
                <a:latin typeface="TT Chocolates"/>
                <a:ea typeface="TT Chocolates"/>
                <a:cs typeface="TT Chocolates"/>
                <a:sym typeface="TT Chocolates"/>
                <a:hlinkClick r:id="rId4" tooltip="https://www.miraflores.gob.pe/miraflores-redujo-uso-de-agua-potable-para-el-riego-de-parques-y-jardines/"/>
              </a:rPr>
              <a:t>https://www.miraflores.gob.pe/miraflores-redujo-uso-de-agua-potable-para-el-riego-de-parques-y-jardines/</a:t>
            </a:r>
          </a:p>
          <a:p>
            <a:pPr algn="just">
              <a:lnSpc>
                <a:spcPts val="3079"/>
              </a:lnSpc>
            </a:pPr>
            <a:r>
              <a:rPr lang="en-US" sz="2199">
                <a:solidFill>
                  <a:srgbClr val="242424"/>
                </a:solidFill>
                <a:latin typeface="TT Chocolates"/>
                <a:ea typeface="TT Chocolates"/>
                <a:cs typeface="TT Chocolates"/>
                <a:sym typeface="TT Chocolates"/>
              </a:rPr>
              <a:t>[4] United Nations Department of Economic and Social Affairs. Goal 11: Sustainable cities and communities [Internet]. New York: United Nations; 2026 [citado 16 sep 2026]. Disponible en: </a:t>
            </a:r>
            <a:r>
              <a:rPr lang="en-US" sz="2199" u="sng">
                <a:solidFill>
                  <a:srgbClr val="242424"/>
                </a:solidFill>
                <a:latin typeface="TT Chocolates"/>
                <a:ea typeface="TT Chocolates"/>
                <a:cs typeface="TT Chocolates"/>
                <a:sym typeface="TT Chocolates"/>
                <a:hlinkClick r:id="rId5" tooltip="https://sdgs.un.org/goals/goal11"/>
              </a:rPr>
              <a:t>https://sdgs.un.org/goals/goal11</a:t>
            </a:r>
          </a:p>
          <a:p>
            <a:pPr algn="just">
              <a:lnSpc>
                <a:spcPts val="3079"/>
              </a:lnSpc>
            </a:pPr>
            <a:r>
              <a:rPr lang="en-US" sz="2199">
                <a:solidFill>
                  <a:srgbClr val="242424"/>
                </a:solidFill>
                <a:latin typeface="TT Chocolates"/>
                <a:ea typeface="TT Chocolates"/>
                <a:cs typeface="TT Chocolates"/>
                <a:sym typeface="TT Chocolates"/>
              </a:rPr>
              <a:t>[5] United Nations Department of Economic and Social Affairs. Goal 6: Clean water and sanitation [Internet]. New York: United Nations; 2026 [citado 16 sep 2026]. Disponible en: </a:t>
            </a:r>
            <a:r>
              <a:rPr lang="en-US" sz="2199" u="sng">
                <a:solidFill>
                  <a:srgbClr val="242424"/>
                </a:solidFill>
                <a:latin typeface="TT Chocolates"/>
                <a:ea typeface="TT Chocolates"/>
                <a:cs typeface="TT Chocolates"/>
                <a:sym typeface="TT Chocolates"/>
                <a:hlinkClick r:id="rId6" tooltip="https://sdgs.un.org/goals/goal6"/>
              </a:rPr>
              <a:t>https://sdgs.un.org/goals/goal6</a:t>
            </a:r>
          </a:p>
          <a:p>
            <a:pPr algn="just">
              <a:lnSpc>
                <a:spcPts val="3079"/>
              </a:lnSpc>
            </a:pPr>
            <a:r>
              <a:rPr lang="en-US" sz="2199">
                <a:solidFill>
                  <a:srgbClr val="242424"/>
                </a:solidFill>
                <a:latin typeface="TT Chocolates"/>
                <a:ea typeface="TT Chocolates"/>
                <a:cs typeface="TT Chocolates"/>
                <a:sym typeface="TT Chocolates"/>
              </a:rPr>
              <a:t>[6] United Nations Department of Economic and Social Affairs. Goal 9: Industry, innovation and infrastructure [Internet]. New York: United Nations; 2026 [citado 16 sep 2026]. Disponible en: </a:t>
            </a:r>
            <a:r>
              <a:rPr lang="en-US" sz="2199" u="sng">
                <a:solidFill>
                  <a:srgbClr val="242424"/>
                </a:solidFill>
                <a:latin typeface="TT Chocolates"/>
                <a:ea typeface="TT Chocolates"/>
                <a:cs typeface="TT Chocolates"/>
                <a:sym typeface="TT Chocolates"/>
                <a:hlinkClick r:id="rId7" tooltip="https://sdgs.un.org/goals/goal9"/>
              </a:rPr>
              <a:t>https://sdgs.un.org/goals/goal9</a:t>
            </a:r>
          </a:p>
          <a:p>
            <a:pPr algn="l" marL="0" indent="0" lvl="0">
              <a:lnSpc>
                <a:spcPts val="3079"/>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94544" y="620169"/>
            <a:ext cx="14619414" cy="8985697"/>
            <a:chOff x="0" y="0"/>
            <a:chExt cx="4284994" cy="2633735"/>
          </a:xfrm>
        </p:grpSpPr>
        <p:sp>
          <p:nvSpPr>
            <p:cNvPr name="Freeform 3" id="3"/>
            <p:cNvSpPr/>
            <p:nvPr/>
          </p:nvSpPr>
          <p:spPr>
            <a:xfrm flipH="false" flipV="false" rot="0">
              <a:off x="0" y="0"/>
              <a:ext cx="4284994" cy="2633735"/>
            </a:xfrm>
            <a:custGeom>
              <a:avLst/>
              <a:gdLst/>
              <a:ahLst/>
              <a:cxnLst/>
              <a:rect r="r" b="b" t="t" l="l"/>
              <a:pathLst>
                <a:path h="2633735" w="4284994">
                  <a:moveTo>
                    <a:pt x="0" y="0"/>
                  </a:moveTo>
                  <a:lnTo>
                    <a:pt x="4284994" y="0"/>
                  </a:lnTo>
                  <a:lnTo>
                    <a:pt x="4284994" y="2633735"/>
                  </a:lnTo>
                  <a:lnTo>
                    <a:pt x="0" y="2633735"/>
                  </a:lnTo>
                  <a:close/>
                </a:path>
              </a:pathLst>
            </a:custGeom>
            <a:ln w="66675" cap="sq">
              <a:solidFill>
                <a:srgbClr val="8FA4E1"/>
              </a:solidFill>
              <a:prstDash val="solid"/>
              <a:miter/>
            </a:ln>
          </p:spPr>
        </p:sp>
        <p:sp>
          <p:nvSpPr>
            <p:cNvPr name="TextBox 4" id="4"/>
            <p:cNvSpPr txBox="true"/>
            <p:nvPr/>
          </p:nvSpPr>
          <p:spPr>
            <a:xfrm>
              <a:off x="0" y="-38100"/>
              <a:ext cx="4284994" cy="267183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028700" y="3161274"/>
            <a:ext cx="16230600" cy="3964452"/>
          </a:xfrm>
          <a:prstGeom prst="rect">
            <a:avLst/>
          </a:prstGeom>
          <a:solidFill>
            <a:srgbClr val="CFDBFF"/>
          </a:solidFill>
        </p:spPr>
      </p:sp>
      <p:sp>
        <p:nvSpPr>
          <p:cNvPr name="TextBox 6" id="6"/>
          <p:cNvSpPr txBox="true"/>
          <p:nvPr/>
        </p:nvSpPr>
        <p:spPr>
          <a:xfrm rot="0">
            <a:off x="2225537" y="3272235"/>
            <a:ext cx="14309803" cy="3695812"/>
          </a:xfrm>
          <a:prstGeom prst="rect">
            <a:avLst/>
          </a:prstGeom>
        </p:spPr>
        <p:txBody>
          <a:bodyPr anchor="t" rtlCol="false" tIns="0" lIns="0" bIns="0" rIns="0">
            <a:spAutoFit/>
          </a:bodyPr>
          <a:lstStyle/>
          <a:p>
            <a:pPr algn="ctr">
              <a:lnSpc>
                <a:spcPts val="26681"/>
              </a:lnSpc>
            </a:pPr>
            <a:r>
              <a:rPr lang="en-US" sz="20212">
                <a:solidFill>
                  <a:srgbClr val="000000"/>
                </a:solidFill>
                <a:latin typeface="Gill Sans Condensed"/>
                <a:ea typeface="Gill Sans Condensed"/>
                <a:cs typeface="Gill Sans Condensed"/>
                <a:sym typeface="Gill Sans Condense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DAHVYgV3aas</dc:identifier>
  <dcterms:modified xsi:type="dcterms:W3CDTF">2011-08-01T06:04:30Z</dcterms:modified>
  <cp:revision>1</cp:revision>
  <dc:title>Exposición de Problemática</dc:title>
</cp:coreProperties>
</file>