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Glacial Indifference Bold" charset="1" panose="00000800000000000000"/>
      <p:regular r:id="rId15"/>
    </p:embeddedFont>
    <p:embeddedFont>
      <p:font typeface="Glacial Indifference" charset="1" panose="00000000000000000000"/>
      <p:regular r:id="rId16"/>
    </p:embeddedFont>
    <p:embeddedFont>
      <p:font typeface="Open Sans Bold" charset="1" panose="020B0806030504020204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0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5.png" Type="http://schemas.openxmlformats.org/officeDocument/2006/relationships/image"/><Relationship Id="rId7" Target="../media/image16.png" Type="http://schemas.openxmlformats.org/officeDocument/2006/relationships/image"/><Relationship Id="rId8" Target="../media/image17.svg" Type="http://schemas.openxmlformats.org/officeDocument/2006/relationships/image"/><Relationship Id="rId9" Target="../media/image1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2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0.svg" Type="http://schemas.openxmlformats.org/officeDocument/2006/relationships/image"/><Relationship Id="rId11" Target="../media/image31.png" Type="http://schemas.openxmlformats.org/officeDocument/2006/relationships/image"/><Relationship Id="rId12" Target="../media/image32.svg" Type="http://schemas.openxmlformats.org/officeDocument/2006/relationships/image"/><Relationship Id="rId2" Target="../media/image22.png" Type="http://schemas.openxmlformats.org/officeDocument/2006/relationships/image"/><Relationship Id="rId3" Target="../media/image23.png" Type="http://schemas.openxmlformats.org/officeDocument/2006/relationships/image"/><Relationship Id="rId4" Target="../media/image24.svg" Type="http://schemas.openxmlformats.org/officeDocument/2006/relationships/image"/><Relationship Id="rId5" Target="../media/image25.png" Type="http://schemas.openxmlformats.org/officeDocument/2006/relationships/image"/><Relationship Id="rId6" Target="../media/image26.svg" Type="http://schemas.openxmlformats.org/officeDocument/2006/relationships/image"/><Relationship Id="rId7" Target="../media/image27.png" Type="http://schemas.openxmlformats.org/officeDocument/2006/relationships/image"/><Relationship Id="rId8" Target="../media/image28.svg" Type="http://schemas.openxmlformats.org/officeDocument/2006/relationships/image"/><Relationship Id="rId9" Target="../media/image2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1.png" Type="http://schemas.openxmlformats.org/officeDocument/2006/relationships/image"/><Relationship Id="rId11" Target="../media/image42.svg" Type="http://schemas.openxmlformats.org/officeDocument/2006/relationships/image"/><Relationship Id="rId12" Target="../media/image43.png" Type="http://schemas.openxmlformats.org/officeDocument/2006/relationships/image"/><Relationship Id="rId2" Target="../media/image33.png" Type="http://schemas.openxmlformats.org/officeDocument/2006/relationships/image"/><Relationship Id="rId3" Target="../media/image34.svg" Type="http://schemas.openxmlformats.org/officeDocument/2006/relationships/image"/><Relationship Id="rId4" Target="../media/image35.png" Type="http://schemas.openxmlformats.org/officeDocument/2006/relationships/image"/><Relationship Id="rId5" Target="../media/image36.jpeg" Type="http://schemas.openxmlformats.org/officeDocument/2006/relationships/image"/><Relationship Id="rId6" Target="../media/image37.jpeg" Type="http://schemas.openxmlformats.org/officeDocument/2006/relationships/image"/><Relationship Id="rId7" Target="../media/image38.jpeg" Type="http://schemas.openxmlformats.org/officeDocument/2006/relationships/image"/><Relationship Id="rId8" Target="../media/image39.png" Type="http://schemas.openxmlformats.org/officeDocument/2006/relationships/image"/><Relationship Id="rId9" Target="../media/image40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8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6982806">
            <a:off x="720300" y="6421716"/>
            <a:ext cx="8842272" cy="11861584"/>
          </a:xfrm>
          <a:custGeom>
            <a:avLst/>
            <a:gdLst/>
            <a:ahLst/>
            <a:cxnLst/>
            <a:rect r="r" b="b" t="t" l="l"/>
            <a:pathLst>
              <a:path h="11861584" w="8842272">
                <a:moveTo>
                  <a:pt x="0" y="0"/>
                </a:moveTo>
                <a:lnTo>
                  <a:pt x="8842272" y="0"/>
                </a:lnTo>
                <a:lnTo>
                  <a:pt x="8842272" y="11861584"/>
                </a:lnTo>
                <a:lnTo>
                  <a:pt x="0" y="118615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5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-6501204">
            <a:off x="11046831" y="-5088864"/>
            <a:ext cx="8807178" cy="11814508"/>
          </a:xfrm>
          <a:custGeom>
            <a:avLst/>
            <a:gdLst/>
            <a:ahLst/>
            <a:cxnLst/>
            <a:rect r="r" b="b" t="t" l="l"/>
            <a:pathLst>
              <a:path h="11814508" w="8807178">
                <a:moveTo>
                  <a:pt x="0" y="0"/>
                </a:moveTo>
                <a:lnTo>
                  <a:pt x="8807178" y="0"/>
                </a:lnTo>
                <a:lnTo>
                  <a:pt x="8807178" y="11814507"/>
                </a:lnTo>
                <a:lnTo>
                  <a:pt x="0" y="118145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5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10571821">
            <a:off x="10628437" y="8363453"/>
            <a:ext cx="5947318" cy="7978109"/>
          </a:xfrm>
          <a:custGeom>
            <a:avLst/>
            <a:gdLst/>
            <a:ahLst/>
            <a:cxnLst/>
            <a:rect r="r" b="b" t="t" l="l"/>
            <a:pathLst>
              <a:path h="7978109" w="5947318">
                <a:moveTo>
                  <a:pt x="0" y="0"/>
                </a:moveTo>
                <a:lnTo>
                  <a:pt x="5947318" y="0"/>
                </a:lnTo>
                <a:lnTo>
                  <a:pt x="5947318" y="7978110"/>
                </a:lnTo>
                <a:lnTo>
                  <a:pt x="0" y="79781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-5114765">
            <a:off x="11561828" y="5146485"/>
            <a:ext cx="8542938" cy="7393525"/>
          </a:xfrm>
          <a:custGeom>
            <a:avLst/>
            <a:gdLst/>
            <a:ahLst/>
            <a:cxnLst/>
            <a:rect r="r" b="b" t="t" l="l"/>
            <a:pathLst>
              <a:path h="7393525" w="8542938">
                <a:moveTo>
                  <a:pt x="0" y="0"/>
                </a:moveTo>
                <a:lnTo>
                  <a:pt x="8542938" y="0"/>
                </a:lnTo>
                <a:lnTo>
                  <a:pt x="8542938" y="7393525"/>
                </a:lnTo>
                <a:lnTo>
                  <a:pt x="0" y="73935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-5058328">
            <a:off x="13255544" y="-4131370"/>
            <a:ext cx="7156478" cy="6935278"/>
          </a:xfrm>
          <a:custGeom>
            <a:avLst/>
            <a:gdLst/>
            <a:ahLst/>
            <a:cxnLst/>
            <a:rect r="r" b="b" t="t" l="l"/>
            <a:pathLst>
              <a:path h="6935278" w="7156478">
                <a:moveTo>
                  <a:pt x="0" y="0"/>
                </a:moveTo>
                <a:lnTo>
                  <a:pt x="7156479" y="0"/>
                </a:lnTo>
                <a:lnTo>
                  <a:pt x="7156479" y="6935279"/>
                </a:lnTo>
                <a:lnTo>
                  <a:pt x="0" y="693527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159244" y="2577641"/>
            <a:ext cx="6554013" cy="5131719"/>
          </a:xfrm>
          <a:custGeom>
            <a:avLst/>
            <a:gdLst/>
            <a:ahLst/>
            <a:cxnLst/>
            <a:rect r="r" b="b" t="t" l="l"/>
            <a:pathLst>
              <a:path h="5131719" w="6554013">
                <a:moveTo>
                  <a:pt x="0" y="0"/>
                </a:moveTo>
                <a:lnTo>
                  <a:pt x="6554013" y="0"/>
                </a:lnTo>
                <a:lnTo>
                  <a:pt x="6554013" y="5131718"/>
                </a:lnTo>
                <a:lnTo>
                  <a:pt x="0" y="513171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-4398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6800871">
            <a:off x="-2140084" y="-3230404"/>
            <a:ext cx="8542938" cy="7393525"/>
          </a:xfrm>
          <a:custGeom>
            <a:avLst/>
            <a:gdLst/>
            <a:ahLst/>
            <a:cxnLst/>
            <a:rect r="r" b="b" t="t" l="l"/>
            <a:pathLst>
              <a:path h="7393525" w="8542938">
                <a:moveTo>
                  <a:pt x="0" y="0"/>
                </a:moveTo>
                <a:lnTo>
                  <a:pt x="8542938" y="0"/>
                </a:lnTo>
                <a:lnTo>
                  <a:pt x="8542938" y="7393525"/>
                </a:lnTo>
                <a:lnTo>
                  <a:pt x="0" y="73935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3318101">
            <a:off x="-3899687" y="7135533"/>
            <a:ext cx="10117864" cy="10062676"/>
          </a:xfrm>
          <a:custGeom>
            <a:avLst/>
            <a:gdLst/>
            <a:ahLst/>
            <a:cxnLst/>
            <a:rect r="r" b="b" t="t" l="l"/>
            <a:pathLst>
              <a:path h="10062676" w="10117864">
                <a:moveTo>
                  <a:pt x="0" y="0"/>
                </a:moveTo>
                <a:lnTo>
                  <a:pt x="10117863" y="0"/>
                </a:lnTo>
                <a:lnTo>
                  <a:pt x="10117863" y="10062676"/>
                </a:lnTo>
                <a:lnTo>
                  <a:pt x="0" y="1006267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0" id="10"/>
          <p:cNvSpPr txBox="true"/>
          <p:nvPr/>
        </p:nvSpPr>
        <p:spPr>
          <a:xfrm rot="0">
            <a:off x="8175637" y="3121898"/>
            <a:ext cx="8049033" cy="2909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13"/>
              </a:lnSpc>
            </a:pPr>
            <a:r>
              <a:rPr lang="en-US" b="true" sz="6169" spc="579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SISTEMA MODULAR DE MONITOREO Y RIEGO POR ZONAS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321485" y="6175107"/>
            <a:ext cx="7757337" cy="6829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04"/>
              </a:lnSpc>
              <a:spcBef>
                <a:spcPct val="0"/>
              </a:spcBef>
            </a:pPr>
            <a:r>
              <a:rPr lang="en-US" sz="1931" spc="181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TALLER 7 – LISTA DE EXIGENCIAS, CAJA NEGRA Y ESTRUCTURA DE FUNCIONES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555348" y="236237"/>
            <a:ext cx="6906528" cy="269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56"/>
              </a:lnSpc>
            </a:pPr>
            <a:r>
              <a:rPr lang="en-US" b="true" sz="2149" spc="202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FUNDAMENTOS DE DISEÑO · EQUIPO 15 · UPCH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092334" y="7776088"/>
            <a:ext cx="3620923" cy="398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212"/>
              </a:lnSpc>
            </a:pPr>
            <a:r>
              <a:rPr lang="en-US" sz="2294" spc="50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Fu</a:t>
            </a:r>
            <a:r>
              <a:rPr lang="en-US" sz="2294" spc="50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ente:  Pexels, 2026 [1]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8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8798399">
            <a:off x="8466276" y="-9590538"/>
            <a:ext cx="9798172" cy="13143890"/>
          </a:xfrm>
          <a:custGeom>
            <a:avLst/>
            <a:gdLst/>
            <a:ahLst/>
            <a:cxnLst/>
            <a:rect r="r" b="b" t="t" l="l"/>
            <a:pathLst>
              <a:path h="13143890" w="9798172">
                <a:moveTo>
                  <a:pt x="0" y="0"/>
                </a:moveTo>
                <a:lnTo>
                  <a:pt x="9798173" y="0"/>
                </a:lnTo>
                <a:lnTo>
                  <a:pt x="9798173" y="13143890"/>
                </a:lnTo>
                <a:lnTo>
                  <a:pt x="0" y="131438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3283157">
            <a:off x="-1450111" y="7438267"/>
            <a:ext cx="5624862" cy="7545546"/>
          </a:xfrm>
          <a:custGeom>
            <a:avLst/>
            <a:gdLst/>
            <a:ahLst/>
            <a:cxnLst/>
            <a:rect r="r" b="b" t="t" l="l"/>
            <a:pathLst>
              <a:path h="7545546" w="5624862">
                <a:moveTo>
                  <a:pt x="0" y="0"/>
                </a:moveTo>
                <a:lnTo>
                  <a:pt x="5624861" y="0"/>
                </a:lnTo>
                <a:lnTo>
                  <a:pt x="5624861" y="7545547"/>
                </a:lnTo>
                <a:lnTo>
                  <a:pt x="0" y="75455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1497246" y="1953731"/>
            <a:ext cx="6460548" cy="966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61"/>
              </a:lnSpc>
            </a:pPr>
            <a:r>
              <a:rPr lang="en-US" sz="5686" spc="534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PROBLEMA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2770156">
            <a:off x="-2577184" y="-2165857"/>
            <a:ext cx="5154368" cy="4995052"/>
          </a:xfrm>
          <a:custGeom>
            <a:avLst/>
            <a:gdLst/>
            <a:ahLst/>
            <a:cxnLst/>
            <a:rect r="r" b="b" t="t" l="l"/>
            <a:pathLst>
              <a:path h="4995052" w="5154368">
                <a:moveTo>
                  <a:pt x="0" y="0"/>
                </a:moveTo>
                <a:lnTo>
                  <a:pt x="5154368" y="0"/>
                </a:lnTo>
                <a:lnTo>
                  <a:pt x="5154368" y="4995051"/>
                </a:lnTo>
                <a:lnTo>
                  <a:pt x="0" y="49950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2770156">
            <a:off x="15710816" y="8522875"/>
            <a:ext cx="5154368" cy="4995052"/>
          </a:xfrm>
          <a:custGeom>
            <a:avLst/>
            <a:gdLst/>
            <a:ahLst/>
            <a:cxnLst/>
            <a:rect r="r" b="b" t="t" l="l"/>
            <a:pathLst>
              <a:path h="4995052" w="5154368">
                <a:moveTo>
                  <a:pt x="0" y="0"/>
                </a:moveTo>
                <a:lnTo>
                  <a:pt x="5154368" y="0"/>
                </a:lnTo>
                <a:lnTo>
                  <a:pt x="5154368" y="4995052"/>
                </a:lnTo>
                <a:lnTo>
                  <a:pt x="0" y="49950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9144000" y="2489313"/>
            <a:ext cx="8068697" cy="5471521"/>
          </a:xfrm>
          <a:custGeom>
            <a:avLst/>
            <a:gdLst/>
            <a:ahLst/>
            <a:cxnLst/>
            <a:rect r="r" b="b" t="t" l="l"/>
            <a:pathLst>
              <a:path h="5471521" w="8068697">
                <a:moveTo>
                  <a:pt x="0" y="0"/>
                </a:moveTo>
                <a:lnTo>
                  <a:pt x="8068697" y="0"/>
                </a:lnTo>
                <a:lnTo>
                  <a:pt x="8068697" y="5471521"/>
                </a:lnTo>
                <a:lnTo>
                  <a:pt x="0" y="547152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972151" y="4843326"/>
            <a:ext cx="7510737" cy="1028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2"/>
              </a:lnSpc>
            </a:pPr>
            <a:r>
              <a:rPr lang="en-US" b="true" sz="2994" spc="65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¿POR QUÉ REGARLAS IGUAL SI SU HUMEDAD NO ES LA MISMA?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97246" y="2739145"/>
            <a:ext cx="6044615" cy="1605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086"/>
              </a:lnSpc>
            </a:pPr>
            <a:r>
              <a:rPr lang="en-US" b="true" sz="9347" spc="878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TÉCNICO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07762" y="6124559"/>
            <a:ext cx="6239515" cy="207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2"/>
              </a:lnSpc>
            </a:pPr>
            <a:r>
              <a:rPr lang="en-US" sz="2994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Tenemos como objetivo medir por zona, decidir por zona y registrar el agua usada.</a:t>
            </a:r>
          </a:p>
          <a:p>
            <a:pPr algn="ctr">
              <a:lnSpc>
                <a:spcPts val="4192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1639062" y="7973007"/>
            <a:ext cx="3620923" cy="398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2"/>
              </a:lnSpc>
            </a:pPr>
            <a:r>
              <a:rPr lang="en-US" sz="2294" spc="50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Fu</a:t>
            </a:r>
            <a:r>
              <a:rPr lang="en-US" sz="2294" spc="50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ente: Andina, 2025 [2]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537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78058" y="3581828"/>
            <a:ext cx="4182744" cy="2536626"/>
            <a:chOff x="0" y="0"/>
            <a:chExt cx="661292" cy="40104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1292" cy="401041"/>
            </a:xfrm>
            <a:custGeom>
              <a:avLst/>
              <a:gdLst/>
              <a:ahLst/>
              <a:cxnLst/>
              <a:rect r="r" b="b" t="t" l="l"/>
              <a:pathLst>
                <a:path h="401041" w="661292">
                  <a:moveTo>
                    <a:pt x="48124" y="0"/>
                  </a:moveTo>
                  <a:lnTo>
                    <a:pt x="613168" y="0"/>
                  </a:lnTo>
                  <a:cubicBezTo>
                    <a:pt x="625931" y="0"/>
                    <a:pt x="638172" y="5070"/>
                    <a:pt x="647197" y="14095"/>
                  </a:cubicBezTo>
                  <a:cubicBezTo>
                    <a:pt x="656222" y="23120"/>
                    <a:pt x="661292" y="35361"/>
                    <a:pt x="661292" y="48124"/>
                  </a:cubicBezTo>
                  <a:lnTo>
                    <a:pt x="661292" y="352917"/>
                  </a:lnTo>
                  <a:cubicBezTo>
                    <a:pt x="661292" y="379495"/>
                    <a:pt x="639746" y="401041"/>
                    <a:pt x="613168" y="401041"/>
                  </a:cubicBezTo>
                  <a:lnTo>
                    <a:pt x="48124" y="401041"/>
                  </a:lnTo>
                  <a:cubicBezTo>
                    <a:pt x="21546" y="401041"/>
                    <a:pt x="0" y="379495"/>
                    <a:pt x="0" y="352917"/>
                  </a:cubicBezTo>
                  <a:lnTo>
                    <a:pt x="0" y="48124"/>
                  </a:lnTo>
                  <a:cubicBezTo>
                    <a:pt x="0" y="21546"/>
                    <a:pt x="21546" y="0"/>
                    <a:pt x="48124" y="0"/>
                  </a:cubicBezTo>
                  <a:close/>
                </a:path>
              </a:pathLst>
            </a:custGeom>
            <a:solidFill>
              <a:srgbClr val="EDE8E4"/>
            </a:solidFill>
            <a:ln w="1333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661292" cy="4010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950"/>
                </a:lnSpc>
              </a:pPr>
              <a:r>
                <a:rPr lang="en-US" b="true" sz="5000">
                  <a:solidFill>
                    <a:srgbClr val="000000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9 FUENTES ANALIZADAS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807085" y="513696"/>
            <a:ext cx="8324690" cy="1252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58"/>
              </a:lnSpc>
            </a:pPr>
            <a:r>
              <a:rPr lang="en-US" b="true" sz="7327" spc="688">
                <a:solidFill>
                  <a:srgbClr val="EDE8E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DESK RESEARCH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672866">
            <a:off x="-1311592" y="-2999039"/>
            <a:ext cx="6556116" cy="6126988"/>
          </a:xfrm>
          <a:custGeom>
            <a:avLst/>
            <a:gdLst/>
            <a:ahLst/>
            <a:cxnLst/>
            <a:rect r="r" b="b" t="t" l="l"/>
            <a:pathLst>
              <a:path h="6126988" w="6556116">
                <a:moveTo>
                  <a:pt x="0" y="0"/>
                </a:moveTo>
                <a:lnTo>
                  <a:pt x="6556115" y="0"/>
                </a:lnTo>
                <a:lnTo>
                  <a:pt x="6556115" y="6126988"/>
                </a:lnTo>
                <a:lnTo>
                  <a:pt x="0" y="61269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6321534" y="-285545"/>
            <a:ext cx="1966466" cy="1884231"/>
          </a:xfrm>
          <a:custGeom>
            <a:avLst/>
            <a:gdLst/>
            <a:ahLst/>
            <a:cxnLst/>
            <a:rect r="r" b="b" t="t" l="l"/>
            <a:pathLst>
              <a:path h="1884231" w="1966466">
                <a:moveTo>
                  <a:pt x="0" y="0"/>
                </a:moveTo>
                <a:lnTo>
                  <a:pt x="1966466" y="0"/>
                </a:lnTo>
                <a:lnTo>
                  <a:pt x="1966466" y="1884232"/>
                </a:lnTo>
                <a:lnTo>
                  <a:pt x="0" y="18842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7304767" y="854768"/>
            <a:ext cx="1966466" cy="1884231"/>
          </a:xfrm>
          <a:custGeom>
            <a:avLst/>
            <a:gdLst/>
            <a:ahLst/>
            <a:cxnLst/>
            <a:rect r="r" b="b" t="t" l="l"/>
            <a:pathLst>
              <a:path h="1884231" w="1966466">
                <a:moveTo>
                  <a:pt x="0" y="0"/>
                </a:moveTo>
                <a:lnTo>
                  <a:pt x="1966466" y="0"/>
                </a:lnTo>
                <a:lnTo>
                  <a:pt x="1966466" y="1884232"/>
                </a:lnTo>
                <a:lnTo>
                  <a:pt x="0" y="18842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0" y="9258300"/>
            <a:ext cx="1966466" cy="1884231"/>
          </a:xfrm>
          <a:custGeom>
            <a:avLst/>
            <a:gdLst/>
            <a:ahLst/>
            <a:cxnLst/>
            <a:rect r="r" b="b" t="t" l="l"/>
            <a:pathLst>
              <a:path h="1884231" w="1966466">
                <a:moveTo>
                  <a:pt x="0" y="0"/>
                </a:moveTo>
                <a:lnTo>
                  <a:pt x="1966466" y="0"/>
                </a:lnTo>
                <a:lnTo>
                  <a:pt x="1966466" y="1884231"/>
                </a:lnTo>
                <a:lnTo>
                  <a:pt x="0" y="18842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-937766" y="8402769"/>
            <a:ext cx="1966466" cy="1884231"/>
          </a:xfrm>
          <a:custGeom>
            <a:avLst/>
            <a:gdLst/>
            <a:ahLst/>
            <a:cxnLst/>
            <a:rect r="r" b="b" t="t" l="l"/>
            <a:pathLst>
              <a:path h="1884231" w="1966466">
                <a:moveTo>
                  <a:pt x="0" y="0"/>
                </a:moveTo>
                <a:lnTo>
                  <a:pt x="1966466" y="0"/>
                </a:lnTo>
                <a:lnTo>
                  <a:pt x="1966466" y="1884231"/>
                </a:lnTo>
                <a:lnTo>
                  <a:pt x="0" y="18842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-10799999">
            <a:off x="12715117" y="7583041"/>
            <a:ext cx="6556116" cy="6126988"/>
          </a:xfrm>
          <a:custGeom>
            <a:avLst/>
            <a:gdLst/>
            <a:ahLst/>
            <a:cxnLst/>
            <a:rect r="r" b="b" t="t" l="l"/>
            <a:pathLst>
              <a:path h="6126988" w="6556116">
                <a:moveTo>
                  <a:pt x="0" y="0"/>
                </a:moveTo>
                <a:lnTo>
                  <a:pt x="6556116" y="0"/>
                </a:lnTo>
                <a:lnTo>
                  <a:pt x="6556116" y="6126988"/>
                </a:lnTo>
                <a:lnTo>
                  <a:pt x="0" y="61269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2" id="12"/>
          <p:cNvGrpSpPr/>
          <p:nvPr/>
        </p:nvGrpSpPr>
        <p:grpSpPr>
          <a:xfrm rot="0">
            <a:off x="5573635" y="8648127"/>
            <a:ext cx="3285999" cy="1058418"/>
            <a:chOff x="0" y="0"/>
            <a:chExt cx="519516" cy="16733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19516" cy="167336"/>
            </a:xfrm>
            <a:custGeom>
              <a:avLst/>
              <a:gdLst/>
              <a:ahLst/>
              <a:cxnLst/>
              <a:rect r="r" b="b" t="t" l="l"/>
              <a:pathLst>
                <a:path h="167336" w="519516">
                  <a:moveTo>
                    <a:pt x="83668" y="0"/>
                  </a:moveTo>
                  <a:lnTo>
                    <a:pt x="435848" y="0"/>
                  </a:lnTo>
                  <a:cubicBezTo>
                    <a:pt x="458039" y="0"/>
                    <a:pt x="479320" y="8815"/>
                    <a:pt x="495011" y="24506"/>
                  </a:cubicBezTo>
                  <a:cubicBezTo>
                    <a:pt x="510701" y="40197"/>
                    <a:pt x="519516" y="61478"/>
                    <a:pt x="519516" y="83668"/>
                  </a:cubicBezTo>
                  <a:lnTo>
                    <a:pt x="519516" y="83668"/>
                  </a:lnTo>
                  <a:cubicBezTo>
                    <a:pt x="519516" y="105858"/>
                    <a:pt x="510701" y="127139"/>
                    <a:pt x="495011" y="142830"/>
                  </a:cubicBezTo>
                  <a:cubicBezTo>
                    <a:pt x="479320" y="158521"/>
                    <a:pt x="458039" y="167336"/>
                    <a:pt x="435848" y="167336"/>
                  </a:cubicBezTo>
                  <a:lnTo>
                    <a:pt x="83668" y="167336"/>
                  </a:lnTo>
                  <a:cubicBezTo>
                    <a:pt x="61478" y="167336"/>
                    <a:pt x="40197" y="158521"/>
                    <a:pt x="24506" y="142830"/>
                  </a:cubicBezTo>
                  <a:cubicBezTo>
                    <a:pt x="8815" y="127139"/>
                    <a:pt x="0" y="105858"/>
                    <a:pt x="0" y="83668"/>
                  </a:cubicBezTo>
                  <a:lnTo>
                    <a:pt x="0" y="83668"/>
                  </a:lnTo>
                  <a:cubicBezTo>
                    <a:pt x="0" y="61478"/>
                    <a:pt x="8815" y="40197"/>
                    <a:pt x="24506" y="24506"/>
                  </a:cubicBezTo>
                  <a:cubicBezTo>
                    <a:pt x="40197" y="8815"/>
                    <a:pt x="61478" y="0"/>
                    <a:pt x="83668" y="0"/>
                  </a:cubicBezTo>
                  <a:close/>
                </a:path>
              </a:pathLst>
            </a:custGeom>
            <a:solidFill>
              <a:srgbClr val="EDE8E4"/>
            </a:solidFill>
            <a:ln cap="rnd">
              <a:noFill/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519516" cy="1673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69"/>
                </a:lnSpc>
              </a:pPr>
              <a:r>
                <a:rPr lang="en-US" b="true" sz="3000">
                  <a:solidFill>
                    <a:srgbClr val="000000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2 PAPERS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147285" y="8648127"/>
            <a:ext cx="3285999" cy="1058418"/>
            <a:chOff x="0" y="0"/>
            <a:chExt cx="519516" cy="16733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19516" cy="167336"/>
            </a:xfrm>
            <a:custGeom>
              <a:avLst/>
              <a:gdLst/>
              <a:ahLst/>
              <a:cxnLst/>
              <a:rect r="r" b="b" t="t" l="l"/>
              <a:pathLst>
                <a:path h="167336" w="519516">
                  <a:moveTo>
                    <a:pt x="83668" y="0"/>
                  </a:moveTo>
                  <a:lnTo>
                    <a:pt x="435848" y="0"/>
                  </a:lnTo>
                  <a:cubicBezTo>
                    <a:pt x="458039" y="0"/>
                    <a:pt x="479320" y="8815"/>
                    <a:pt x="495011" y="24506"/>
                  </a:cubicBezTo>
                  <a:cubicBezTo>
                    <a:pt x="510701" y="40197"/>
                    <a:pt x="519516" y="61478"/>
                    <a:pt x="519516" y="83668"/>
                  </a:cubicBezTo>
                  <a:lnTo>
                    <a:pt x="519516" y="83668"/>
                  </a:lnTo>
                  <a:cubicBezTo>
                    <a:pt x="519516" y="105858"/>
                    <a:pt x="510701" y="127139"/>
                    <a:pt x="495011" y="142830"/>
                  </a:cubicBezTo>
                  <a:cubicBezTo>
                    <a:pt x="479320" y="158521"/>
                    <a:pt x="458039" y="167336"/>
                    <a:pt x="435848" y="167336"/>
                  </a:cubicBezTo>
                  <a:lnTo>
                    <a:pt x="83668" y="167336"/>
                  </a:lnTo>
                  <a:cubicBezTo>
                    <a:pt x="61478" y="167336"/>
                    <a:pt x="40197" y="158521"/>
                    <a:pt x="24506" y="142830"/>
                  </a:cubicBezTo>
                  <a:cubicBezTo>
                    <a:pt x="8815" y="127139"/>
                    <a:pt x="0" y="105858"/>
                    <a:pt x="0" y="83668"/>
                  </a:cubicBezTo>
                  <a:lnTo>
                    <a:pt x="0" y="83668"/>
                  </a:lnTo>
                  <a:cubicBezTo>
                    <a:pt x="0" y="61478"/>
                    <a:pt x="8815" y="40197"/>
                    <a:pt x="24506" y="24506"/>
                  </a:cubicBezTo>
                  <a:cubicBezTo>
                    <a:pt x="40197" y="8815"/>
                    <a:pt x="61478" y="0"/>
                    <a:pt x="83668" y="0"/>
                  </a:cubicBezTo>
                  <a:close/>
                </a:path>
              </a:pathLst>
            </a:custGeom>
            <a:solidFill>
              <a:srgbClr val="EDE8E4"/>
            </a:solidFill>
            <a:ln cap="rnd">
              <a:noFill/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519516" cy="1673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69"/>
                </a:lnSpc>
              </a:pPr>
              <a:r>
                <a:rPr lang="en-US" b="true" sz="3000">
                  <a:solidFill>
                    <a:srgbClr val="000000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2 PRODUCTOS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715117" y="7461694"/>
            <a:ext cx="3285999" cy="1058418"/>
            <a:chOff x="0" y="0"/>
            <a:chExt cx="519516" cy="16733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19516" cy="167336"/>
            </a:xfrm>
            <a:custGeom>
              <a:avLst/>
              <a:gdLst/>
              <a:ahLst/>
              <a:cxnLst/>
              <a:rect r="r" b="b" t="t" l="l"/>
              <a:pathLst>
                <a:path h="167336" w="519516">
                  <a:moveTo>
                    <a:pt x="83668" y="0"/>
                  </a:moveTo>
                  <a:lnTo>
                    <a:pt x="435848" y="0"/>
                  </a:lnTo>
                  <a:cubicBezTo>
                    <a:pt x="458039" y="0"/>
                    <a:pt x="479320" y="8815"/>
                    <a:pt x="495011" y="24506"/>
                  </a:cubicBezTo>
                  <a:cubicBezTo>
                    <a:pt x="510701" y="40197"/>
                    <a:pt x="519516" y="61478"/>
                    <a:pt x="519516" y="83668"/>
                  </a:cubicBezTo>
                  <a:lnTo>
                    <a:pt x="519516" y="83668"/>
                  </a:lnTo>
                  <a:cubicBezTo>
                    <a:pt x="519516" y="105858"/>
                    <a:pt x="510701" y="127139"/>
                    <a:pt x="495011" y="142830"/>
                  </a:cubicBezTo>
                  <a:cubicBezTo>
                    <a:pt x="479320" y="158521"/>
                    <a:pt x="458039" y="167336"/>
                    <a:pt x="435848" y="167336"/>
                  </a:cubicBezTo>
                  <a:lnTo>
                    <a:pt x="83668" y="167336"/>
                  </a:lnTo>
                  <a:cubicBezTo>
                    <a:pt x="61478" y="167336"/>
                    <a:pt x="40197" y="158521"/>
                    <a:pt x="24506" y="142830"/>
                  </a:cubicBezTo>
                  <a:cubicBezTo>
                    <a:pt x="8815" y="127139"/>
                    <a:pt x="0" y="105858"/>
                    <a:pt x="0" y="83668"/>
                  </a:cubicBezTo>
                  <a:lnTo>
                    <a:pt x="0" y="83668"/>
                  </a:lnTo>
                  <a:cubicBezTo>
                    <a:pt x="0" y="61478"/>
                    <a:pt x="8815" y="40197"/>
                    <a:pt x="24506" y="24506"/>
                  </a:cubicBezTo>
                  <a:cubicBezTo>
                    <a:pt x="40197" y="8815"/>
                    <a:pt x="61478" y="0"/>
                    <a:pt x="83668" y="0"/>
                  </a:cubicBezTo>
                  <a:close/>
                </a:path>
              </a:pathLst>
            </a:custGeom>
            <a:solidFill>
              <a:srgbClr val="EDE8E4"/>
            </a:solidFill>
            <a:ln cap="rnd">
              <a:noFill/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519516" cy="1673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69"/>
                </a:lnSpc>
              </a:pPr>
              <a:r>
                <a:rPr lang="en-US" b="true" sz="3000">
                  <a:solidFill>
                    <a:srgbClr val="000000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2 TESIS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966466" y="7583041"/>
            <a:ext cx="3285999" cy="1058418"/>
            <a:chOff x="0" y="0"/>
            <a:chExt cx="519516" cy="16733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19516" cy="167336"/>
            </a:xfrm>
            <a:custGeom>
              <a:avLst/>
              <a:gdLst/>
              <a:ahLst/>
              <a:cxnLst/>
              <a:rect r="r" b="b" t="t" l="l"/>
              <a:pathLst>
                <a:path h="167336" w="519516">
                  <a:moveTo>
                    <a:pt x="83668" y="0"/>
                  </a:moveTo>
                  <a:lnTo>
                    <a:pt x="435848" y="0"/>
                  </a:lnTo>
                  <a:cubicBezTo>
                    <a:pt x="458039" y="0"/>
                    <a:pt x="479320" y="8815"/>
                    <a:pt x="495011" y="24506"/>
                  </a:cubicBezTo>
                  <a:cubicBezTo>
                    <a:pt x="510701" y="40197"/>
                    <a:pt x="519516" y="61478"/>
                    <a:pt x="519516" y="83668"/>
                  </a:cubicBezTo>
                  <a:lnTo>
                    <a:pt x="519516" y="83668"/>
                  </a:lnTo>
                  <a:cubicBezTo>
                    <a:pt x="519516" y="105858"/>
                    <a:pt x="510701" y="127139"/>
                    <a:pt x="495011" y="142830"/>
                  </a:cubicBezTo>
                  <a:cubicBezTo>
                    <a:pt x="479320" y="158521"/>
                    <a:pt x="458039" y="167336"/>
                    <a:pt x="435848" y="167336"/>
                  </a:cubicBezTo>
                  <a:lnTo>
                    <a:pt x="83668" y="167336"/>
                  </a:lnTo>
                  <a:cubicBezTo>
                    <a:pt x="61478" y="167336"/>
                    <a:pt x="40197" y="158521"/>
                    <a:pt x="24506" y="142830"/>
                  </a:cubicBezTo>
                  <a:cubicBezTo>
                    <a:pt x="8815" y="127139"/>
                    <a:pt x="0" y="105858"/>
                    <a:pt x="0" y="83668"/>
                  </a:cubicBezTo>
                  <a:lnTo>
                    <a:pt x="0" y="83668"/>
                  </a:lnTo>
                  <a:cubicBezTo>
                    <a:pt x="0" y="61478"/>
                    <a:pt x="8815" y="40197"/>
                    <a:pt x="24506" y="24506"/>
                  </a:cubicBezTo>
                  <a:cubicBezTo>
                    <a:pt x="40197" y="8815"/>
                    <a:pt x="61478" y="0"/>
                    <a:pt x="83668" y="0"/>
                  </a:cubicBezTo>
                  <a:close/>
                </a:path>
              </a:pathLst>
            </a:custGeom>
            <a:solidFill>
              <a:srgbClr val="EDE8E4"/>
            </a:solidFill>
            <a:ln cap="rnd">
              <a:noFill/>
              <a:prstDash val="solid"/>
              <a:round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519516" cy="1673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69"/>
                </a:lnSpc>
              </a:pPr>
              <a:r>
                <a:rPr lang="en-US" b="true" sz="3000">
                  <a:solidFill>
                    <a:srgbClr val="000000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3 PATENTES</a:t>
              </a: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1485056" y="2524830"/>
            <a:ext cx="4722628" cy="3137596"/>
          </a:xfrm>
          <a:custGeom>
            <a:avLst/>
            <a:gdLst/>
            <a:ahLst/>
            <a:cxnLst/>
            <a:rect r="r" b="b" t="t" l="l"/>
            <a:pathLst>
              <a:path h="3137596" w="4722628">
                <a:moveTo>
                  <a:pt x="0" y="0"/>
                </a:moveTo>
                <a:lnTo>
                  <a:pt x="4722629" y="0"/>
                </a:lnTo>
                <a:lnTo>
                  <a:pt x="4722629" y="3137596"/>
                </a:lnTo>
                <a:lnTo>
                  <a:pt x="0" y="313759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8740178">
            <a:off x="4631835" y="6332205"/>
            <a:ext cx="2603336" cy="738401"/>
          </a:xfrm>
          <a:custGeom>
            <a:avLst/>
            <a:gdLst/>
            <a:ahLst/>
            <a:cxnLst/>
            <a:rect r="r" b="b" t="t" l="l"/>
            <a:pathLst>
              <a:path h="738401" w="2603336">
                <a:moveTo>
                  <a:pt x="0" y="0"/>
                </a:moveTo>
                <a:lnTo>
                  <a:pt x="2603335" y="0"/>
                </a:lnTo>
                <a:lnTo>
                  <a:pt x="2603335" y="738400"/>
                </a:lnTo>
                <a:lnTo>
                  <a:pt x="0" y="7384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2380193" y="6061304"/>
            <a:ext cx="3620923" cy="798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212"/>
              </a:lnSpc>
            </a:pPr>
            <a:r>
              <a:rPr lang="en-US" sz="2294" spc="50">
                <a:solidFill>
                  <a:srgbClr val="EDE8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Rachio</a:t>
            </a:r>
            <a:r>
              <a:rPr lang="en-US" sz="2294" spc="50">
                <a:solidFill>
                  <a:srgbClr val="EDE8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Smart Sprinkler Controller [4]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1853029">
            <a:off x="10795231" y="6278222"/>
            <a:ext cx="2603336" cy="738401"/>
          </a:xfrm>
          <a:custGeom>
            <a:avLst/>
            <a:gdLst/>
            <a:ahLst/>
            <a:cxnLst/>
            <a:rect r="r" b="b" t="t" l="l"/>
            <a:pathLst>
              <a:path h="738401" w="2603336">
                <a:moveTo>
                  <a:pt x="0" y="0"/>
                </a:moveTo>
                <a:lnTo>
                  <a:pt x="2603336" y="0"/>
                </a:lnTo>
                <a:lnTo>
                  <a:pt x="2603336" y="738401"/>
                </a:lnTo>
                <a:lnTo>
                  <a:pt x="0" y="73840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4231242">
            <a:off x="9113523" y="6928648"/>
            <a:ext cx="2603336" cy="738401"/>
          </a:xfrm>
          <a:custGeom>
            <a:avLst/>
            <a:gdLst/>
            <a:ahLst/>
            <a:cxnLst/>
            <a:rect r="r" b="b" t="t" l="l"/>
            <a:pathLst>
              <a:path h="738401" w="2603336">
                <a:moveTo>
                  <a:pt x="0" y="0"/>
                </a:moveTo>
                <a:lnTo>
                  <a:pt x="2603335" y="0"/>
                </a:lnTo>
                <a:lnTo>
                  <a:pt x="2603335" y="738401"/>
                </a:lnTo>
                <a:lnTo>
                  <a:pt x="0" y="73840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6232412">
            <a:off x="6889324" y="6926705"/>
            <a:ext cx="2603336" cy="738401"/>
          </a:xfrm>
          <a:custGeom>
            <a:avLst/>
            <a:gdLst/>
            <a:ahLst/>
            <a:cxnLst/>
            <a:rect r="r" b="b" t="t" l="l"/>
            <a:pathLst>
              <a:path h="738401" w="2603336">
                <a:moveTo>
                  <a:pt x="0" y="0"/>
                </a:moveTo>
                <a:lnTo>
                  <a:pt x="2603336" y="0"/>
                </a:lnTo>
                <a:lnTo>
                  <a:pt x="2603336" y="738401"/>
                </a:lnTo>
                <a:lnTo>
                  <a:pt x="0" y="73840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2740497" y="2524830"/>
            <a:ext cx="3376425" cy="3376425"/>
          </a:xfrm>
          <a:custGeom>
            <a:avLst/>
            <a:gdLst/>
            <a:ahLst/>
            <a:cxnLst/>
            <a:rect r="r" b="b" t="t" l="l"/>
            <a:pathLst>
              <a:path h="3376425" w="3376425">
                <a:moveTo>
                  <a:pt x="0" y="0"/>
                </a:moveTo>
                <a:lnTo>
                  <a:pt x="3376425" y="0"/>
                </a:lnTo>
                <a:lnTo>
                  <a:pt x="3376425" y="3376424"/>
                </a:lnTo>
                <a:lnTo>
                  <a:pt x="0" y="337642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1186162" y="6090444"/>
            <a:ext cx="3620923" cy="398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212"/>
              </a:lnSpc>
            </a:pPr>
            <a:r>
              <a:rPr lang="en-US" sz="2294" spc="50">
                <a:solidFill>
                  <a:srgbClr val="EDE8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Rai</a:t>
            </a:r>
            <a:r>
              <a:rPr lang="en-US" sz="2294" spc="50">
                <a:solidFill>
                  <a:srgbClr val="EDE8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 Bird ARC [3]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8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659918">
            <a:off x="-76131" y="-3824722"/>
            <a:ext cx="6556116" cy="6126988"/>
          </a:xfrm>
          <a:custGeom>
            <a:avLst/>
            <a:gdLst/>
            <a:ahLst/>
            <a:cxnLst/>
            <a:rect r="r" b="b" t="t" l="l"/>
            <a:pathLst>
              <a:path h="6126988" w="6556116">
                <a:moveTo>
                  <a:pt x="0" y="0"/>
                </a:moveTo>
                <a:lnTo>
                  <a:pt x="6556116" y="0"/>
                </a:lnTo>
                <a:lnTo>
                  <a:pt x="6556116" y="6126989"/>
                </a:lnTo>
                <a:lnTo>
                  <a:pt x="0" y="61269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1436661" y="1351333"/>
            <a:ext cx="11631207" cy="1104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8"/>
              </a:lnSpc>
            </a:pPr>
            <a:r>
              <a:rPr lang="en-US" b="true" sz="6398" spc="601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EXIGENCIAS PRINCIPALES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6399961">
            <a:off x="12306837" y="-1406598"/>
            <a:ext cx="13805122" cy="17698875"/>
          </a:xfrm>
          <a:custGeom>
            <a:avLst/>
            <a:gdLst/>
            <a:ahLst/>
            <a:cxnLst/>
            <a:rect r="r" b="b" t="t" l="l"/>
            <a:pathLst>
              <a:path h="17698875" w="13805122">
                <a:moveTo>
                  <a:pt x="0" y="0"/>
                </a:moveTo>
                <a:lnTo>
                  <a:pt x="13805122" y="0"/>
                </a:lnTo>
                <a:lnTo>
                  <a:pt x="13805122" y="17698875"/>
                </a:lnTo>
                <a:lnTo>
                  <a:pt x="0" y="176988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5572246" y="8746182"/>
            <a:ext cx="1966466" cy="1884231"/>
          </a:xfrm>
          <a:custGeom>
            <a:avLst/>
            <a:gdLst/>
            <a:ahLst/>
            <a:cxnLst/>
            <a:rect r="r" b="b" t="t" l="l"/>
            <a:pathLst>
              <a:path h="1884231" w="1966466">
                <a:moveTo>
                  <a:pt x="0" y="0"/>
                </a:moveTo>
                <a:lnTo>
                  <a:pt x="1966465" y="0"/>
                </a:lnTo>
                <a:lnTo>
                  <a:pt x="1966465" y="1884231"/>
                </a:lnTo>
                <a:lnTo>
                  <a:pt x="0" y="188423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7259300" y="8746182"/>
            <a:ext cx="1966466" cy="1884231"/>
          </a:xfrm>
          <a:custGeom>
            <a:avLst/>
            <a:gdLst/>
            <a:ahLst/>
            <a:cxnLst/>
            <a:rect r="r" b="b" t="t" l="l"/>
            <a:pathLst>
              <a:path h="1884231" w="1966466">
                <a:moveTo>
                  <a:pt x="0" y="0"/>
                </a:moveTo>
                <a:lnTo>
                  <a:pt x="1966466" y="0"/>
                </a:lnTo>
                <a:lnTo>
                  <a:pt x="1966466" y="1884231"/>
                </a:lnTo>
                <a:lnTo>
                  <a:pt x="0" y="188423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1368840" y="2598502"/>
          <a:ext cx="14766518" cy="7247174"/>
        </p:xfrm>
        <a:graphic>
          <a:graphicData uri="http://schemas.openxmlformats.org/drawingml/2006/table">
            <a:tbl>
              <a:tblPr/>
              <a:tblGrid>
                <a:gridCol w="7383259"/>
                <a:gridCol w="7383259"/>
              </a:tblGrid>
              <a:tr h="122728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96"/>
                        </a:lnSpc>
                        <a:defRPr/>
                      </a:pPr>
                      <a:r>
                        <a:rPr lang="en-US" sz="1782" b="true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Medición por zona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75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96"/>
                        </a:lnSpc>
                        <a:defRPr/>
                      </a:pPr>
                      <a:r>
                        <a:rPr lang="en-US" sz="1782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Medir humedad y temperatura del suelo en cada zona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1073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96"/>
                        </a:lnSpc>
                        <a:defRPr/>
                      </a:pPr>
                      <a:r>
                        <a:rPr lang="en-US" sz="1782" b="true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Comunicación del sistema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75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96"/>
                        </a:lnSpc>
                        <a:defRPr/>
                      </a:pPr>
                      <a:r>
                        <a:rPr lang="en-US" sz="1782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Enviar datos por ESP-NOW al módulo central y por Wi-Fi a la plataforma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2728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96"/>
                        </a:lnSpc>
                        <a:defRPr/>
                      </a:pPr>
                      <a:r>
                        <a:rPr lang="en-US" b="true" sz="1782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Riego independiente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75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96"/>
                        </a:lnSpc>
                        <a:defRPr/>
                      </a:pPr>
                      <a:r>
                        <a:rPr lang="en-US" sz="1782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Activar o detener cada zona por separado mediante una bomba independiente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2728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96"/>
                        </a:lnSpc>
                        <a:defRPr/>
                      </a:pPr>
                      <a:r>
                        <a:rPr lang="en-US" b="true" sz="1782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Control manual y automático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75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96"/>
                        </a:lnSpc>
                        <a:defRPr/>
                      </a:pPr>
                      <a:r>
                        <a:rPr lang="en-US" sz="1782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Permitir riego remoto y decisiones según las mediciones y parámetros configurados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2728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96"/>
                        </a:lnSpc>
                        <a:defRPr/>
                      </a:pPr>
                      <a:r>
                        <a:rPr lang="en-US" b="true" sz="1782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Medición y registro de consumo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75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96"/>
                        </a:lnSpc>
                        <a:defRPr/>
                      </a:pPr>
                      <a:r>
                        <a:rPr lang="en-US" sz="1782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Medir el caudal de cada línea y guardar el agua utilizada en el historial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2728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96"/>
                        </a:lnSpc>
                        <a:defRPr/>
                      </a:pPr>
                      <a:r>
                        <a:rPr lang="en-US" b="true" sz="1782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Alimentación y protección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75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96"/>
                        </a:lnSpc>
                        <a:defRPr/>
                      </a:pPr>
                      <a:r>
                        <a:rPr lang="en-US" sz="1782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Usar energía solar en los módulos de monitoreo y mantener la electrónica protegida del agua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name="TextBox 8" id="8"/>
          <p:cNvSpPr txBox="true"/>
          <p:nvPr/>
        </p:nvSpPr>
        <p:spPr>
          <a:xfrm rot="0">
            <a:off x="1436661" y="378970"/>
            <a:ext cx="6460548" cy="966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61"/>
              </a:lnSpc>
            </a:pPr>
            <a:r>
              <a:rPr lang="en-US" sz="5686" spc="534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LISTA DE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537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680157" y="-2783424"/>
            <a:ext cx="8535602" cy="7976908"/>
          </a:xfrm>
          <a:custGeom>
            <a:avLst/>
            <a:gdLst/>
            <a:ahLst/>
            <a:cxnLst/>
            <a:rect r="r" b="b" t="t" l="l"/>
            <a:pathLst>
              <a:path h="7976908" w="8535602">
                <a:moveTo>
                  <a:pt x="0" y="0"/>
                </a:moveTo>
                <a:lnTo>
                  <a:pt x="8535602" y="0"/>
                </a:lnTo>
                <a:lnTo>
                  <a:pt x="8535602" y="7976908"/>
                </a:lnTo>
                <a:lnTo>
                  <a:pt x="0" y="79769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-10151301">
            <a:off x="11164674" y="6546853"/>
            <a:ext cx="8535602" cy="7976908"/>
          </a:xfrm>
          <a:custGeom>
            <a:avLst/>
            <a:gdLst/>
            <a:ahLst/>
            <a:cxnLst/>
            <a:rect r="r" b="b" t="t" l="l"/>
            <a:pathLst>
              <a:path h="7976908" w="8535602">
                <a:moveTo>
                  <a:pt x="0" y="0"/>
                </a:moveTo>
                <a:lnTo>
                  <a:pt x="8535602" y="0"/>
                </a:lnTo>
                <a:lnTo>
                  <a:pt x="8535602" y="7976908"/>
                </a:lnTo>
                <a:lnTo>
                  <a:pt x="0" y="79769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4" id="4"/>
          <p:cNvGrpSpPr/>
          <p:nvPr/>
        </p:nvGrpSpPr>
        <p:grpSpPr>
          <a:xfrm rot="0">
            <a:off x="937338" y="2154499"/>
            <a:ext cx="16413324" cy="7325189"/>
            <a:chOff x="0" y="0"/>
            <a:chExt cx="1357104" cy="60566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57104" cy="605669"/>
            </a:xfrm>
            <a:custGeom>
              <a:avLst/>
              <a:gdLst/>
              <a:ahLst/>
              <a:cxnLst/>
              <a:rect r="r" b="b" t="t" l="l"/>
              <a:pathLst>
                <a:path h="605669" w="1357104">
                  <a:moveTo>
                    <a:pt x="40093" y="0"/>
                  </a:moveTo>
                  <a:lnTo>
                    <a:pt x="1317011" y="0"/>
                  </a:lnTo>
                  <a:cubicBezTo>
                    <a:pt x="1339153" y="0"/>
                    <a:pt x="1357104" y="17950"/>
                    <a:pt x="1357104" y="40093"/>
                  </a:cubicBezTo>
                  <a:lnTo>
                    <a:pt x="1357104" y="565576"/>
                  </a:lnTo>
                  <a:cubicBezTo>
                    <a:pt x="1357104" y="576209"/>
                    <a:pt x="1352880" y="586407"/>
                    <a:pt x="1345361" y="593926"/>
                  </a:cubicBezTo>
                  <a:cubicBezTo>
                    <a:pt x="1337842" y="601445"/>
                    <a:pt x="1327644" y="605669"/>
                    <a:pt x="1317011" y="605669"/>
                  </a:cubicBezTo>
                  <a:lnTo>
                    <a:pt x="40093" y="605669"/>
                  </a:lnTo>
                  <a:cubicBezTo>
                    <a:pt x="29460" y="605669"/>
                    <a:pt x="19262" y="601445"/>
                    <a:pt x="11743" y="593926"/>
                  </a:cubicBezTo>
                  <a:cubicBezTo>
                    <a:pt x="4224" y="586407"/>
                    <a:pt x="0" y="576209"/>
                    <a:pt x="0" y="565576"/>
                  </a:cubicBezTo>
                  <a:lnTo>
                    <a:pt x="0" y="40093"/>
                  </a:lnTo>
                  <a:cubicBezTo>
                    <a:pt x="0" y="29460"/>
                    <a:pt x="4224" y="19262"/>
                    <a:pt x="11743" y="11743"/>
                  </a:cubicBezTo>
                  <a:cubicBezTo>
                    <a:pt x="19262" y="4224"/>
                    <a:pt x="29460" y="0"/>
                    <a:pt x="40093" y="0"/>
                  </a:cubicBezTo>
                  <a:close/>
                </a:path>
              </a:pathLst>
            </a:custGeom>
            <a:blipFill>
              <a:blip r:embed="rId4"/>
              <a:stretch>
                <a:fillRect l="-225" t="-40763" r="0" b="-1798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6034524" y="412660"/>
            <a:ext cx="6218951" cy="1108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67"/>
              </a:lnSpc>
            </a:pPr>
            <a:r>
              <a:rPr lang="en-US" b="true" sz="6477" spc="608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CAJA NEGRA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8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35999">
            <a:off x="2675092" y="882650"/>
            <a:ext cx="12937817" cy="8521700"/>
          </a:xfrm>
          <a:custGeom>
            <a:avLst/>
            <a:gdLst/>
            <a:ahLst/>
            <a:cxnLst/>
            <a:rect r="r" b="b" t="t" l="l"/>
            <a:pathLst>
              <a:path h="8521700" w="12937817">
                <a:moveTo>
                  <a:pt x="0" y="134570"/>
                </a:moveTo>
                <a:lnTo>
                  <a:pt x="12849983" y="0"/>
                </a:lnTo>
                <a:lnTo>
                  <a:pt x="12937816" y="8387130"/>
                </a:lnTo>
                <a:lnTo>
                  <a:pt x="87833" y="8521700"/>
                </a:lnTo>
                <a:lnTo>
                  <a:pt x="0" y="134570"/>
                </a:lnTo>
                <a:close/>
              </a:path>
            </a:pathLst>
          </a:custGeom>
          <a:blipFill>
            <a:blip r:embed="rId2"/>
            <a:stretch>
              <a:fillRect l="-104" t="-2987" r="-453" b="-69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00555" y="870710"/>
            <a:ext cx="982296" cy="1076220"/>
          </a:xfrm>
          <a:custGeom>
            <a:avLst/>
            <a:gdLst/>
            <a:ahLst/>
            <a:cxnLst/>
            <a:rect r="r" b="b" t="t" l="l"/>
            <a:pathLst>
              <a:path h="1076220" w="982296">
                <a:moveTo>
                  <a:pt x="0" y="0"/>
                </a:moveTo>
                <a:lnTo>
                  <a:pt x="982296" y="0"/>
                </a:lnTo>
                <a:lnTo>
                  <a:pt x="982296" y="1076220"/>
                </a:lnTo>
                <a:lnTo>
                  <a:pt x="0" y="10762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4" id="4"/>
          <p:cNvGrpSpPr/>
          <p:nvPr/>
        </p:nvGrpSpPr>
        <p:grpSpPr>
          <a:xfrm rot="0">
            <a:off x="401773" y="2057747"/>
            <a:ext cx="1907897" cy="549823"/>
            <a:chOff x="0" y="0"/>
            <a:chExt cx="633938" cy="18269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33938" cy="182690"/>
            </a:xfrm>
            <a:custGeom>
              <a:avLst/>
              <a:gdLst/>
              <a:ahLst/>
              <a:cxnLst/>
              <a:rect r="r" b="b" t="t" l="l"/>
              <a:pathLst>
                <a:path h="182690" w="633938">
                  <a:moveTo>
                    <a:pt x="91345" y="0"/>
                  </a:moveTo>
                  <a:lnTo>
                    <a:pt x="542593" y="0"/>
                  </a:lnTo>
                  <a:cubicBezTo>
                    <a:pt x="566819" y="0"/>
                    <a:pt x="590053" y="9624"/>
                    <a:pt x="607184" y="26754"/>
                  </a:cubicBezTo>
                  <a:cubicBezTo>
                    <a:pt x="624314" y="43885"/>
                    <a:pt x="633938" y="67119"/>
                    <a:pt x="633938" y="91345"/>
                  </a:cubicBezTo>
                  <a:lnTo>
                    <a:pt x="633938" y="91345"/>
                  </a:lnTo>
                  <a:cubicBezTo>
                    <a:pt x="633938" y="141793"/>
                    <a:pt x="593041" y="182690"/>
                    <a:pt x="542593" y="182690"/>
                  </a:cubicBezTo>
                  <a:lnTo>
                    <a:pt x="91345" y="182690"/>
                  </a:lnTo>
                  <a:cubicBezTo>
                    <a:pt x="67119" y="182690"/>
                    <a:pt x="43885" y="173066"/>
                    <a:pt x="26754" y="155936"/>
                  </a:cubicBezTo>
                  <a:cubicBezTo>
                    <a:pt x="9624" y="138805"/>
                    <a:pt x="0" y="115571"/>
                    <a:pt x="0" y="91345"/>
                  </a:cubicBezTo>
                  <a:lnTo>
                    <a:pt x="0" y="91345"/>
                  </a:lnTo>
                  <a:cubicBezTo>
                    <a:pt x="0" y="67119"/>
                    <a:pt x="9624" y="43885"/>
                    <a:pt x="26754" y="26754"/>
                  </a:cubicBezTo>
                  <a:cubicBezTo>
                    <a:pt x="43885" y="9624"/>
                    <a:pt x="67119" y="0"/>
                    <a:pt x="91345" y="0"/>
                  </a:cubicBezTo>
                  <a:close/>
                </a:path>
              </a:pathLst>
            </a:custGeom>
            <a:ln w="47625" cap="rnd">
              <a:solidFill>
                <a:srgbClr val="253754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633938" cy="2303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48"/>
                </a:lnSpc>
                <a:spcBef>
                  <a:spcPct val="0"/>
                </a:spcBef>
              </a:pPr>
              <a:r>
                <a:rPr lang="en-US" sz="2534">
                  <a:solidFill>
                    <a:srgbClr val="253754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IInterfaz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5642353" y="7508503"/>
            <a:ext cx="2446199" cy="549823"/>
            <a:chOff x="0" y="0"/>
            <a:chExt cx="812800" cy="1826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182690"/>
            </a:xfrm>
            <a:custGeom>
              <a:avLst/>
              <a:gdLst/>
              <a:ahLst/>
              <a:cxnLst/>
              <a:rect r="r" b="b" t="t" l="l"/>
              <a:pathLst>
                <a:path h="182690" w="812800">
                  <a:moveTo>
                    <a:pt x="91345" y="0"/>
                  </a:moveTo>
                  <a:lnTo>
                    <a:pt x="721455" y="0"/>
                  </a:lnTo>
                  <a:cubicBezTo>
                    <a:pt x="745681" y="0"/>
                    <a:pt x="768915" y="9624"/>
                    <a:pt x="786046" y="26754"/>
                  </a:cubicBezTo>
                  <a:cubicBezTo>
                    <a:pt x="803176" y="43885"/>
                    <a:pt x="812800" y="67119"/>
                    <a:pt x="812800" y="91345"/>
                  </a:cubicBezTo>
                  <a:lnTo>
                    <a:pt x="812800" y="91345"/>
                  </a:lnTo>
                  <a:cubicBezTo>
                    <a:pt x="812800" y="141793"/>
                    <a:pt x="771903" y="182690"/>
                    <a:pt x="721455" y="182690"/>
                  </a:cubicBezTo>
                  <a:lnTo>
                    <a:pt x="91345" y="182690"/>
                  </a:lnTo>
                  <a:cubicBezTo>
                    <a:pt x="67119" y="182690"/>
                    <a:pt x="43885" y="173066"/>
                    <a:pt x="26754" y="155936"/>
                  </a:cubicBezTo>
                  <a:cubicBezTo>
                    <a:pt x="9624" y="138805"/>
                    <a:pt x="0" y="115571"/>
                    <a:pt x="0" y="91345"/>
                  </a:cubicBezTo>
                  <a:lnTo>
                    <a:pt x="0" y="91345"/>
                  </a:lnTo>
                  <a:cubicBezTo>
                    <a:pt x="0" y="67119"/>
                    <a:pt x="9624" y="43885"/>
                    <a:pt x="26754" y="26754"/>
                  </a:cubicBezTo>
                  <a:cubicBezTo>
                    <a:pt x="43885" y="9624"/>
                    <a:pt x="67119" y="0"/>
                    <a:pt x="91345" y="0"/>
                  </a:cubicBezTo>
                  <a:close/>
                </a:path>
              </a:pathLst>
            </a:custGeom>
            <a:ln w="47625" cap="rnd">
              <a:solidFill>
                <a:srgbClr val="253754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812800" cy="2303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48"/>
                </a:lnSpc>
                <a:spcBef>
                  <a:spcPct val="0"/>
                </a:spcBef>
              </a:pPr>
              <a:r>
                <a:rPr lang="en-US" sz="2534">
                  <a:solidFill>
                    <a:srgbClr val="253754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Energía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00586" y="8409242"/>
            <a:ext cx="1710270" cy="548719"/>
            <a:chOff x="0" y="0"/>
            <a:chExt cx="562324" cy="1804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62324" cy="180415"/>
            </a:xfrm>
            <a:custGeom>
              <a:avLst/>
              <a:gdLst/>
              <a:ahLst/>
              <a:cxnLst/>
              <a:rect r="r" b="b" t="t" l="l"/>
              <a:pathLst>
                <a:path h="180415" w="562324">
                  <a:moveTo>
                    <a:pt x="90207" y="0"/>
                  </a:moveTo>
                  <a:lnTo>
                    <a:pt x="472117" y="0"/>
                  </a:lnTo>
                  <a:cubicBezTo>
                    <a:pt x="496041" y="0"/>
                    <a:pt x="518986" y="9504"/>
                    <a:pt x="535903" y="26421"/>
                  </a:cubicBezTo>
                  <a:cubicBezTo>
                    <a:pt x="552820" y="43338"/>
                    <a:pt x="562324" y="66283"/>
                    <a:pt x="562324" y="90207"/>
                  </a:cubicBezTo>
                  <a:lnTo>
                    <a:pt x="562324" y="90207"/>
                  </a:lnTo>
                  <a:cubicBezTo>
                    <a:pt x="562324" y="114132"/>
                    <a:pt x="552820" y="137076"/>
                    <a:pt x="535903" y="153993"/>
                  </a:cubicBezTo>
                  <a:cubicBezTo>
                    <a:pt x="518986" y="170911"/>
                    <a:pt x="496041" y="180415"/>
                    <a:pt x="472117" y="180415"/>
                  </a:cubicBezTo>
                  <a:lnTo>
                    <a:pt x="90207" y="180415"/>
                  </a:lnTo>
                  <a:cubicBezTo>
                    <a:pt x="66283" y="180415"/>
                    <a:pt x="43338" y="170911"/>
                    <a:pt x="26421" y="153993"/>
                  </a:cubicBezTo>
                  <a:cubicBezTo>
                    <a:pt x="9504" y="137076"/>
                    <a:pt x="0" y="114132"/>
                    <a:pt x="0" y="90207"/>
                  </a:cubicBezTo>
                  <a:lnTo>
                    <a:pt x="0" y="90207"/>
                  </a:lnTo>
                  <a:cubicBezTo>
                    <a:pt x="0" y="66283"/>
                    <a:pt x="9504" y="43338"/>
                    <a:pt x="26421" y="26421"/>
                  </a:cubicBezTo>
                  <a:cubicBezTo>
                    <a:pt x="43338" y="9504"/>
                    <a:pt x="66283" y="0"/>
                    <a:pt x="90207" y="0"/>
                  </a:cubicBezTo>
                  <a:close/>
                </a:path>
              </a:pathLst>
            </a:custGeom>
            <a:ln w="47625" cap="rnd">
              <a:solidFill>
                <a:srgbClr val="253754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562324" cy="228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48"/>
                </a:lnSpc>
                <a:spcBef>
                  <a:spcPct val="0"/>
                </a:spcBef>
              </a:pPr>
              <a:r>
                <a:rPr lang="en-US" sz="2534">
                  <a:solidFill>
                    <a:srgbClr val="253754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Mecánico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381227" y="5051239"/>
            <a:ext cx="1907897" cy="548719"/>
            <a:chOff x="0" y="0"/>
            <a:chExt cx="633938" cy="18232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33938" cy="182323"/>
            </a:xfrm>
            <a:custGeom>
              <a:avLst/>
              <a:gdLst/>
              <a:ahLst/>
              <a:cxnLst/>
              <a:rect r="r" b="b" t="t" l="l"/>
              <a:pathLst>
                <a:path h="182323" w="633938">
                  <a:moveTo>
                    <a:pt x="91162" y="0"/>
                  </a:moveTo>
                  <a:lnTo>
                    <a:pt x="542776" y="0"/>
                  </a:lnTo>
                  <a:cubicBezTo>
                    <a:pt x="593123" y="0"/>
                    <a:pt x="633938" y="40814"/>
                    <a:pt x="633938" y="91162"/>
                  </a:cubicBezTo>
                  <a:lnTo>
                    <a:pt x="633938" y="91162"/>
                  </a:lnTo>
                  <a:cubicBezTo>
                    <a:pt x="633938" y="141509"/>
                    <a:pt x="593123" y="182323"/>
                    <a:pt x="542776" y="182323"/>
                  </a:cubicBezTo>
                  <a:lnTo>
                    <a:pt x="91162" y="182323"/>
                  </a:lnTo>
                  <a:cubicBezTo>
                    <a:pt x="40814" y="182323"/>
                    <a:pt x="0" y="141509"/>
                    <a:pt x="0" y="91162"/>
                  </a:cubicBezTo>
                  <a:lnTo>
                    <a:pt x="0" y="91162"/>
                  </a:lnTo>
                  <a:cubicBezTo>
                    <a:pt x="0" y="40814"/>
                    <a:pt x="40814" y="0"/>
                    <a:pt x="91162" y="0"/>
                  </a:cubicBezTo>
                  <a:close/>
                </a:path>
              </a:pathLst>
            </a:custGeom>
            <a:ln w="47625" cap="rnd">
              <a:solidFill>
                <a:srgbClr val="253754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633938" cy="2299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48"/>
                </a:lnSpc>
                <a:spcBef>
                  <a:spcPct val="0"/>
                </a:spcBef>
              </a:pPr>
              <a:r>
                <a:rPr lang="en-US" sz="2534">
                  <a:solidFill>
                    <a:srgbClr val="253754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Control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5642353" y="3774491"/>
            <a:ext cx="2446199" cy="549823"/>
            <a:chOff x="0" y="0"/>
            <a:chExt cx="812800" cy="18269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182690"/>
            </a:xfrm>
            <a:custGeom>
              <a:avLst/>
              <a:gdLst/>
              <a:ahLst/>
              <a:cxnLst/>
              <a:rect r="r" b="b" t="t" l="l"/>
              <a:pathLst>
                <a:path h="182690" w="812800">
                  <a:moveTo>
                    <a:pt x="91345" y="0"/>
                  </a:moveTo>
                  <a:lnTo>
                    <a:pt x="721455" y="0"/>
                  </a:lnTo>
                  <a:cubicBezTo>
                    <a:pt x="745681" y="0"/>
                    <a:pt x="768915" y="9624"/>
                    <a:pt x="786046" y="26754"/>
                  </a:cubicBezTo>
                  <a:cubicBezTo>
                    <a:pt x="803176" y="43885"/>
                    <a:pt x="812800" y="67119"/>
                    <a:pt x="812800" y="91345"/>
                  </a:cubicBezTo>
                  <a:lnTo>
                    <a:pt x="812800" y="91345"/>
                  </a:lnTo>
                  <a:cubicBezTo>
                    <a:pt x="812800" y="141793"/>
                    <a:pt x="771903" y="182690"/>
                    <a:pt x="721455" y="182690"/>
                  </a:cubicBezTo>
                  <a:lnTo>
                    <a:pt x="91345" y="182690"/>
                  </a:lnTo>
                  <a:cubicBezTo>
                    <a:pt x="67119" y="182690"/>
                    <a:pt x="43885" y="173066"/>
                    <a:pt x="26754" y="155936"/>
                  </a:cubicBezTo>
                  <a:cubicBezTo>
                    <a:pt x="9624" y="138805"/>
                    <a:pt x="0" y="115571"/>
                    <a:pt x="0" y="91345"/>
                  </a:cubicBezTo>
                  <a:lnTo>
                    <a:pt x="0" y="91345"/>
                  </a:lnTo>
                  <a:cubicBezTo>
                    <a:pt x="0" y="67119"/>
                    <a:pt x="9624" y="43885"/>
                    <a:pt x="26754" y="26754"/>
                  </a:cubicBezTo>
                  <a:cubicBezTo>
                    <a:pt x="43885" y="9624"/>
                    <a:pt x="67119" y="0"/>
                    <a:pt x="91345" y="0"/>
                  </a:cubicBezTo>
                  <a:close/>
                </a:path>
              </a:pathLst>
            </a:custGeom>
            <a:ln w="47625" cap="rnd">
              <a:solidFill>
                <a:srgbClr val="253754"/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812800" cy="2303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48"/>
                </a:lnSpc>
                <a:spcBef>
                  <a:spcPct val="0"/>
                </a:spcBef>
              </a:pPr>
              <a:r>
                <a:rPr lang="en-US" sz="2534">
                  <a:solidFill>
                    <a:srgbClr val="253754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Electrónica</a:t>
              </a: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885120" y="3786545"/>
            <a:ext cx="941204" cy="1076220"/>
          </a:xfrm>
          <a:custGeom>
            <a:avLst/>
            <a:gdLst/>
            <a:ahLst/>
            <a:cxnLst/>
            <a:rect r="r" b="b" t="t" l="l"/>
            <a:pathLst>
              <a:path h="1076220" w="941204">
                <a:moveTo>
                  <a:pt x="0" y="0"/>
                </a:moveTo>
                <a:lnTo>
                  <a:pt x="941203" y="0"/>
                </a:lnTo>
                <a:lnTo>
                  <a:pt x="941203" y="1076220"/>
                </a:lnTo>
                <a:lnTo>
                  <a:pt x="0" y="107622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0" id="20"/>
          <p:cNvSpPr/>
          <p:nvPr/>
        </p:nvSpPr>
        <p:spPr>
          <a:xfrm flipH="false" flipV="false" rot="0">
            <a:off x="16346755" y="6301564"/>
            <a:ext cx="1037394" cy="1037394"/>
          </a:xfrm>
          <a:custGeom>
            <a:avLst/>
            <a:gdLst/>
            <a:ahLst/>
            <a:cxnLst/>
            <a:rect r="r" b="b" t="t" l="l"/>
            <a:pathLst>
              <a:path h="1037394" w="1037394">
                <a:moveTo>
                  <a:pt x="0" y="0"/>
                </a:moveTo>
                <a:lnTo>
                  <a:pt x="1037394" y="0"/>
                </a:lnTo>
                <a:lnTo>
                  <a:pt x="1037394" y="1037394"/>
                </a:lnTo>
                <a:lnTo>
                  <a:pt x="0" y="103739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1" id="21"/>
          <p:cNvSpPr/>
          <p:nvPr/>
        </p:nvSpPr>
        <p:spPr>
          <a:xfrm flipH="false" flipV="false" rot="0">
            <a:off x="401773" y="6781058"/>
            <a:ext cx="1871699" cy="1459926"/>
          </a:xfrm>
          <a:custGeom>
            <a:avLst/>
            <a:gdLst/>
            <a:ahLst/>
            <a:cxnLst/>
            <a:rect r="r" b="b" t="t" l="l"/>
            <a:pathLst>
              <a:path h="1459926" w="1871699">
                <a:moveTo>
                  <a:pt x="0" y="0"/>
                </a:moveTo>
                <a:lnTo>
                  <a:pt x="1871699" y="0"/>
                </a:lnTo>
                <a:lnTo>
                  <a:pt x="1871699" y="1459925"/>
                </a:lnTo>
                <a:lnTo>
                  <a:pt x="0" y="145992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6006551" y="1722104"/>
            <a:ext cx="1717803" cy="1770931"/>
          </a:xfrm>
          <a:custGeom>
            <a:avLst/>
            <a:gdLst/>
            <a:ahLst/>
            <a:cxnLst/>
            <a:rect r="r" b="b" t="t" l="l"/>
            <a:pathLst>
              <a:path h="1770931" w="1717803">
                <a:moveTo>
                  <a:pt x="0" y="0"/>
                </a:moveTo>
                <a:lnTo>
                  <a:pt x="1717803" y="0"/>
                </a:lnTo>
                <a:lnTo>
                  <a:pt x="1717803" y="1770931"/>
                </a:lnTo>
                <a:lnTo>
                  <a:pt x="0" y="177093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5813836" y="184983"/>
            <a:ext cx="6869256" cy="506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23"/>
              </a:lnSpc>
              <a:spcBef>
                <a:spcPct val="0"/>
              </a:spcBef>
            </a:pPr>
            <a:r>
              <a:rPr lang="en-US" b="true" sz="2945" spc="276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ESTRUCTUR</a:t>
            </a:r>
            <a:r>
              <a:rPr lang="en-US" b="true" sz="2945" spc="276" strike="noStrike" u="none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 DE FUNCIONES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8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8798399">
            <a:off x="13156923" y="1016610"/>
            <a:ext cx="9798172" cy="13143890"/>
          </a:xfrm>
          <a:custGeom>
            <a:avLst/>
            <a:gdLst/>
            <a:ahLst/>
            <a:cxnLst/>
            <a:rect r="r" b="b" t="t" l="l"/>
            <a:pathLst>
              <a:path h="13143890" w="9798172">
                <a:moveTo>
                  <a:pt x="0" y="0"/>
                </a:moveTo>
                <a:lnTo>
                  <a:pt x="9798173" y="0"/>
                </a:lnTo>
                <a:lnTo>
                  <a:pt x="9798173" y="13143890"/>
                </a:lnTo>
                <a:lnTo>
                  <a:pt x="0" y="131438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-8798399">
            <a:off x="-2994864" y="-8645988"/>
            <a:ext cx="9798172" cy="13143890"/>
          </a:xfrm>
          <a:custGeom>
            <a:avLst/>
            <a:gdLst/>
            <a:ahLst/>
            <a:cxnLst/>
            <a:rect r="r" b="b" t="t" l="l"/>
            <a:pathLst>
              <a:path h="13143890" w="9798172">
                <a:moveTo>
                  <a:pt x="0" y="0"/>
                </a:moveTo>
                <a:lnTo>
                  <a:pt x="9798173" y="0"/>
                </a:lnTo>
                <a:lnTo>
                  <a:pt x="9798173" y="13143890"/>
                </a:lnTo>
                <a:lnTo>
                  <a:pt x="0" y="131438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9961243">
            <a:off x="12217193" y="-3026777"/>
            <a:ext cx="10084214" cy="8727429"/>
          </a:xfrm>
          <a:custGeom>
            <a:avLst/>
            <a:gdLst/>
            <a:ahLst/>
            <a:cxnLst/>
            <a:rect r="r" b="b" t="t" l="l"/>
            <a:pathLst>
              <a:path h="8727429" w="10084214">
                <a:moveTo>
                  <a:pt x="0" y="0"/>
                </a:moveTo>
                <a:lnTo>
                  <a:pt x="10084214" y="0"/>
                </a:lnTo>
                <a:lnTo>
                  <a:pt x="10084214" y="8727429"/>
                </a:lnTo>
                <a:lnTo>
                  <a:pt x="0" y="87274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-976001">
            <a:off x="-4614341" y="5979010"/>
            <a:ext cx="9228681" cy="7987004"/>
          </a:xfrm>
          <a:custGeom>
            <a:avLst/>
            <a:gdLst/>
            <a:ahLst/>
            <a:cxnLst/>
            <a:rect r="r" b="b" t="t" l="l"/>
            <a:pathLst>
              <a:path h="7987004" w="9228681">
                <a:moveTo>
                  <a:pt x="0" y="0"/>
                </a:moveTo>
                <a:lnTo>
                  <a:pt x="9228682" y="0"/>
                </a:lnTo>
                <a:lnTo>
                  <a:pt x="9228682" y="7987004"/>
                </a:lnTo>
                <a:lnTo>
                  <a:pt x="0" y="79870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649722" y="330439"/>
            <a:ext cx="8324690" cy="2561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258"/>
              </a:lnSpc>
            </a:pPr>
            <a:r>
              <a:rPr lang="en-US" b="true" sz="7327" spc="688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CONCLUSIONES FINALES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49722" y="3311485"/>
            <a:ext cx="15735927" cy="6145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88"/>
              </a:lnSpc>
              <a:spcBef>
                <a:spcPct val="0"/>
              </a:spcBef>
            </a:pPr>
            <a:r>
              <a:rPr lang="en-US" b="true" sz="349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El</a:t>
            </a:r>
            <a:r>
              <a:rPr lang="en-US" b="true" sz="349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proyecto quedó definido como un sistema modular, donde cada zona se monitorea y se riega de forma independiente.</a:t>
            </a:r>
          </a:p>
          <a:p>
            <a:pPr algn="l">
              <a:lnSpc>
                <a:spcPts val="4888"/>
              </a:lnSpc>
              <a:spcBef>
                <a:spcPct val="0"/>
              </a:spcBef>
            </a:pPr>
          </a:p>
          <a:p>
            <a:pPr algn="l">
              <a:lnSpc>
                <a:spcPts val="4888"/>
              </a:lnSpc>
              <a:spcBef>
                <a:spcPct val="0"/>
              </a:spcBef>
            </a:pPr>
            <a:r>
              <a:rPr lang="en-US" sz="349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La arquitec</a:t>
            </a:r>
            <a:r>
              <a:rPr lang="en-US" sz="349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</a:t>
            </a:r>
            <a:r>
              <a:rPr lang="en-US" sz="349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ura</a:t>
            </a:r>
            <a:r>
              <a:rPr lang="en-US" sz="349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49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centr</a:t>
            </a:r>
            <a:r>
              <a:rPr lang="en-US" sz="349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al</a:t>
            </a:r>
            <a:r>
              <a:rPr lang="en-US" sz="349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</a:t>
            </a:r>
            <a:r>
              <a:rPr lang="en-US" sz="349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z</a:t>
            </a:r>
            <a:r>
              <a:rPr lang="en-US" sz="349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ada</a:t>
            </a:r>
            <a:r>
              <a:rPr lang="en-US" sz="349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que hemos propuesto </a:t>
            </a:r>
            <a:r>
              <a:rPr lang="en-US" sz="349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pe</a:t>
            </a:r>
            <a:r>
              <a:rPr lang="en-US" sz="349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</a:t>
            </a:r>
            <a:r>
              <a:rPr lang="en-US" sz="349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</a:t>
            </a:r>
            <a:r>
              <a:rPr lang="en-US" sz="349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</a:t>
            </a:r>
            <a:r>
              <a:rPr lang="en-US" sz="349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</a:t>
            </a:r>
            <a:r>
              <a:rPr lang="en-US" sz="349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</a:t>
            </a:r>
            <a:r>
              <a:rPr lang="en-US" sz="349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49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</a:t>
            </a:r>
            <a:r>
              <a:rPr lang="en-US" sz="349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eu</a:t>
            </a:r>
            <a:r>
              <a:rPr lang="en-US" sz="349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</a:t>
            </a:r>
            <a:r>
              <a:rPr lang="en-US" sz="349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ir</a:t>
            </a:r>
            <a:r>
              <a:rPr lang="en-US" sz="349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l</a:t>
            </a:r>
            <a:r>
              <a:rPr lang="en-US" sz="349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as</a:t>
            </a:r>
            <a:r>
              <a:rPr lang="en-US" sz="349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49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me</a:t>
            </a:r>
            <a:r>
              <a:rPr lang="en-US" sz="349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di</a:t>
            </a:r>
            <a:r>
              <a:rPr lang="en-US" sz="349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cione</a:t>
            </a:r>
            <a:r>
              <a:rPr lang="en-US" sz="349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</a:t>
            </a:r>
            <a:r>
              <a:rPr lang="en-US" sz="349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d</a:t>
            </a:r>
            <a:r>
              <a:rPr lang="en-US" sz="349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 </a:t>
            </a:r>
            <a:r>
              <a:rPr lang="en-US" sz="349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los</a:t>
            </a:r>
            <a:r>
              <a:rPr lang="en-US" sz="349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módulos</a:t>
            </a:r>
            <a:r>
              <a:rPr lang="en-US" sz="349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,</a:t>
            </a:r>
            <a:r>
              <a:rPr lang="en-US" sz="349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49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controlar el riego y reg</a:t>
            </a:r>
            <a:r>
              <a:rPr lang="en-US" sz="349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istr</a:t>
            </a:r>
            <a:r>
              <a:rPr lang="en-US" sz="349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ar la </a:t>
            </a:r>
            <a:r>
              <a:rPr lang="en-US" sz="349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</a:t>
            </a:r>
            <a:r>
              <a:rPr lang="en-US" sz="349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nf</a:t>
            </a:r>
            <a:r>
              <a:rPr lang="en-US" sz="349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</a:t>
            </a:r>
            <a:r>
              <a:rPr lang="en-US" sz="349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rma</a:t>
            </a:r>
            <a:r>
              <a:rPr lang="en-US" sz="349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</a:t>
            </a:r>
            <a:r>
              <a:rPr lang="en-US" sz="349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ió</a:t>
            </a:r>
            <a:r>
              <a:rPr lang="en-US" sz="349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</a:t>
            </a:r>
            <a:r>
              <a:rPr lang="en-US" sz="349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49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</a:t>
            </a:r>
            <a:r>
              <a:rPr lang="en-US" sz="349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</a:t>
            </a:r>
            <a:r>
              <a:rPr lang="en-US" sz="349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</a:t>
            </a:r>
            <a:r>
              <a:rPr lang="en-US" sz="349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de</a:t>
            </a:r>
            <a:r>
              <a:rPr lang="en-US" sz="349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un</a:t>
            </a:r>
            <a:r>
              <a:rPr lang="en-US" sz="349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</a:t>
            </a:r>
            <a:r>
              <a:rPr lang="en-US" sz="349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49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</a:t>
            </a:r>
            <a:r>
              <a:rPr lang="en-US" sz="349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isma </a:t>
            </a:r>
            <a:r>
              <a:rPr lang="en-US" sz="349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pla</a:t>
            </a:r>
            <a:r>
              <a:rPr lang="en-US" sz="349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</a:t>
            </a:r>
            <a:r>
              <a:rPr lang="en-US" sz="349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afo</a:t>
            </a:r>
            <a:r>
              <a:rPr lang="en-US" sz="349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</a:t>
            </a:r>
            <a:r>
              <a:rPr lang="en-US" sz="349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</a:t>
            </a:r>
            <a:r>
              <a:rPr lang="en-US" sz="349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a.</a:t>
            </a:r>
          </a:p>
          <a:p>
            <a:pPr algn="l">
              <a:lnSpc>
                <a:spcPts val="4888"/>
              </a:lnSpc>
              <a:spcBef>
                <a:spcPct val="0"/>
              </a:spcBef>
            </a:pPr>
          </a:p>
          <a:p>
            <a:pPr algn="l">
              <a:lnSpc>
                <a:spcPts val="4888"/>
              </a:lnSpc>
              <a:spcBef>
                <a:spcPct val="0"/>
              </a:spcBef>
            </a:pPr>
            <a:r>
              <a:rPr lang="en-US" b="true" sz="349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La medición del flujo de agua permitirá comparar el consumo de agua entre pruebas y comprobar si el sistema realmente mejora la forma de regar.</a:t>
            </a:r>
          </a:p>
          <a:p>
            <a:pPr algn="l">
              <a:lnSpc>
                <a:spcPts val="488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8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14350" y="-1580379"/>
            <a:ext cx="19050326" cy="5975359"/>
            <a:chOff x="0" y="0"/>
            <a:chExt cx="5017370" cy="15737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17370" cy="1573757"/>
            </a:xfrm>
            <a:custGeom>
              <a:avLst/>
              <a:gdLst/>
              <a:ahLst/>
              <a:cxnLst/>
              <a:rect r="r" b="b" t="t" l="l"/>
              <a:pathLst>
                <a:path h="1573757" w="5017370">
                  <a:moveTo>
                    <a:pt x="0" y="0"/>
                  </a:moveTo>
                  <a:lnTo>
                    <a:pt x="5017370" y="0"/>
                  </a:lnTo>
                  <a:lnTo>
                    <a:pt x="5017370" y="1573757"/>
                  </a:lnTo>
                  <a:lnTo>
                    <a:pt x="0" y="1573757"/>
                  </a:lnTo>
                  <a:close/>
                </a:path>
              </a:pathLst>
            </a:custGeom>
            <a:solidFill>
              <a:srgbClr val="253754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5017370" cy="15642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1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10719458">
            <a:off x="-508769" y="3878032"/>
            <a:ext cx="19305539" cy="3249078"/>
          </a:xfrm>
          <a:custGeom>
            <a:avLst/>
            <a:gdLst/>
            <a:ahLst/>
            <a:cxnLst/>
            <a:rect r="r" b="b" t="t" l="l"/>
            <a:pathLst>
              <a:path h="3249078" w="19305539">
                <a:moveTo>
                  <a:pt x="0" y="0"/>
                </a:moveTo>
                <a:lnTo>
                  <a:pt x="19305538" y="0"/>
                </a:lnTo>
                <a:lnTo>
                  <a:pt x="19305538" y="3249078"/>
                </a:lnTo>
                <a:lnTo>
                  <a:pt x="0" y="32490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93104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6" id="6"/>
          <p:cNvGrpSpPr/>
          <p:nvPr/>
        </p:nvGrpSpPr>
        <p:grpSpPr>
          <a:xfrm rot="0">
            <a:off x="427123" y="4129243"/>
            <a:ext cx="3130788" cy="3130788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10023" r="0" b="-10023"/>
              </a:stretch>
            </a:blipFill>
            <a:ln w="95250" cap="sq">
              <a:solidFill>
                <a:srgbClr val="D89C6C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7578606" y="4129243"/>
            <a:ext cx="3130788" cy="3130788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 l="0" t="0" r="0" b="-43205"/>
              </a:stretch>
            </a:blipFill>
            <a:ln w="95250" cap="sq">
              <a:solidFill>
                <a:srgbClr val="D89C6C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4109681" y="4129243"/>
            <a:ext cx="3130788" cy="3130788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0" t="-20588" r="0" b="0"/>
              </a:stretch>
            </a:blipFill>
            <a:ln w="95250" cap="sq">
              <a:solidFill>
                <a:srgbClr val="D89C6C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1018163" y="4129243"/>
            <a:ext cx="3130788" cy="3130788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7"/>
              <a:stretch>
                <a:fillRect l="0" t="0" r="0" b="-49114"/>
              </a:stretch>
            </a:blipFill>
            <a:ln w="95250" cap="sq">
              <a:solidFill>
                <a:srgbClr val="D89C6C"/>
              </a:solidFill>
              <a:prstDash val="solid"/>
              <a:miter/>
            </a:ln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284248" y="-713185"/>
            <a:ext cx="1488904" cy="1931362"/>
          </a:xfrm>
          <a:custGeom>
            <a:avLst/>
            <a:gdLst/>
            <a:ahLst/>
            <a:cxnLst/>
            <a:rect r="r" b="b" t="t" l="l"/>
            <a:pathLst>
              <a:path h="1931362" w="1488904">
                <a:moveTo>
                  <a:pt x="0" y="0"/>
                </a:moveTo>
                <a:lnTo>
                  <a:pt x="1488904" y="0"/>
                </a:lnTo>
                <a:lnTo>
                  <a:pt x="1488904" y="1931362"/>
                </a:lnTo>
                <a:lnTo>
                  <a:pt x="0" y="193136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-744452" y="252496"/>
            <a:ext cx="1488904" cy="1931362"/>
          </a:xfrm>
          <a:custGeom>
            <a:avLst/>
            <a:gdLst/>
            <a:ahLst/>
            <a:cxnLst/>
            <a:rect r="r" b="b" t="t" l="l"/>
            <a:pathLst>
              <a:path h="1931362" w="1488904">
                <a:moveTo>
                  <a:pt x="0" y="0"/>
                </a:moveTo>
                <a:lnTo>
                  <a:pt x="1488904" y="0"/>
                </a:lnTo>
                <a:lnTo>
                  <a:pt x="1488904" y="1931362"/>
                </a:lnTo>
                <a:lnTo>
                  <a:pt x="0" y="193136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6293998" y="8734875"/>
            <a:ext cx="2476208" cy="3212062"/>
          </a:xfrm>
          <a:custGeom>
            <a:avLst/>
            <a:gdLst/>
            <a:ahLst/>
            <a:cxnLst/>
            <a:rect r="r" b="b" t="t" l="l"/>
            <a:pathLst>
              <a:path h="3212062" w="2476208">
                <a:moveTo>
                  <a:pt x="0" y="0"/>
                </a:moveTo>
                <a:lnTo>
                  <a:pt x="2476208" y="0"/>
                </a:lnTo>
                <a:lnTo>
                  <a:pt x="2476208" y="3212061"/>
                </a:lnTo>
                <a:lnTo>
                  <a:pt x="0" y="321206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7" id="17"/>
          <p:cNvGrpSpPr/>
          <p:nvPr/>
        </p:nvGrpSpPr>
        <p:grpSpPr>
          <a:xfrm rot="0">
            <a:off x="14457720" y="4129243"/>
            <a:ext cx="3130788" cy="3130788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12"/>
              <a:stretch>
                <a:fillRect l="0" t="-38888" r="0" b="-38888"/>
              </a:stretch>
            </a:blipFill>
            <a:ln w="95250" cap="sq">
              <a:solidFill>
                <a:srgbClr val="D89C6C"/>
              </a:solidFill>
              <a:prstDash val="solid"/>
              <a:miter/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4609213" y="268853"/>
            <a:ext cx="8803199" cy="3784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47"/>
              </a:lnSpc>
            </a:pPr>
            <a:r>
              <a:rPr lang="en-US" b="true" sz="7748" spc="728">
                <a:solidFill>
                  <a:srgbClr val="EDE8E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EQUIPO 15</a:t>
            </a:r>
          </a:p>
          <a:p>
            <a:pPr algn="ctr">
              <a:lnSpc>
                <a:spcPts val="8607"/>
              </a:lnSpc>
            </a:pPr>
            <a:r>
              <a:rPr lang="en-US" b="true" sz="6148" spc="577">
                <a:solidFill>
                  <a:srgbClr val="EDE8E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INTEGRANTES </a:t>
            </a:r>
          </a:p>
          <a:p>
            <a:pPr algn="ctr">
              <a:lnSpc>
                <a:spcPts val="10847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658216" y="7312154"/>
            <a:ext cx="3003789" cy="941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4"/>
              </a:lnSpc>
            </a:pPr>
            <a:r>
              <a:rPr lang="en-US" b="true" sz="2682" spc="59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Leonel Willians Sotelo Mamani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975456" y="7295644"/>
            <a:ext cx="3399238" cy="941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4"/>
              </a:lnSpc>
            </a:pPr>
            <a:r>
              <a:rPr lang="en-US" b="true" sz="2682" spc="59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Giordano Valentino Valero Bonifacio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508918" y="7312154"/>
            <a:ext cx="3003789" cy="941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4"/>
              </a:lnSpc>
            </a:pPr>
            <a:r>
              <a:rPr lang="en-US" b="true" sz="2682" spc="59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Josue Ismael Cardenas Luna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145162" y="7295644"/>
            <a:ext cx="3003789" cy="941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4"/>
              </a:lnSpc>
            </a:pPr>
            <a:r>
              <a:rPr lang="en-US" b="true" sz="2682" spc="59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Kenneth Samir Ramos Espinoza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777601" y="7295644"/>
            <a:ext cx="3003789" cy="941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4"/>
              </a:lnSpc>
            </a:pPr>
            <a:r>
              <a:rPr lang="en-US" b="true" sz="2682" spc="59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Leonardo Pedro Espinoza Flores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EDE8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609213" y="268853"/>
            <a:ext cx="8803199" cy="1327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47"/>
              </a:lnSpc>
            </a:pPr>
            <a:r>
              <a:rPr lang="en-US" b="true" sz="7748" spc="728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BIBLIOGRAFIA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704877"/>
            <a:ext cx="16230600" cy="8041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48"/>
              </a:lnSpc>
              <a:spcBef>
                <a:spcPct val="0"/>
              </a:spcBef>
            </a:pPr>
            <a:r>
              <a:rPr lang="en-US" sz="253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[1] Biernaciński R. Sunlit park with pathway and sprinklers watering lush green</a:t>
            </a:r>
          </a:p>
          <a:p>
            <a:pPr algn="ctr">
              <a:lnSpc>
                <a:spcPts val="3548"/>
              </a:lnSpc>
              <a:spcBef>
                <a:spcPct val="0"/>
              </a:spcBef>
            </a:pPr>
            <a:r>
              <a:rPr lang="en-US" sz="253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grass and trees [photograph on the Internet]. Pexels; [cited 2026 Sep 30].</a:t>
            </a:r>
          </a:p>
          <a:p>
            <a:pPr algn="ctr">
              <a:lnSpc>
                <a:spcPts val="3548"/>
              </a:lnSpc>
              <a:spcBef>
                <a:spcPct val="0"/>
              </a:spcBef>
            </a:pPr>
            <a:r>
              <a:rPr lang="en-US" sz="253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Available from: https://www.pexels.com/photo/paved-pathway-near-green-trees-and-green-grass-field-with-water-sprinklers-11853545/</a:t>
            </a:r>
          </a:p>
          <a:p>
            <a:pPr algn="ctr">
              <a:lnSpc>
                <a:spcPts val="3548"/>
              </a:lnSpc>
              <a:spcBef>
                <a:spcPct val="0"/>
              </a:spcBef>
            </a:pPr>
          </a:p>
          <a:p>
            <a:pPr algn="ctr">
              <a:lnSpc>
                <a:spcPts val="3548"/>
              </a:lnSpc>
              <a:spcBef>
                <a:spcPct val="0"/>
              </a:spcBef>
            </a:pPr>
            <a:r>
              <a:rPr lang="en-US" sz="253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[2] Agencia Peruana de Noticias Andina. San Martín de Porres: inauguran dos</a:t>
            </a:r>
          </a:p>
          <a:p>
            <a:pPr algn="ctr">
              <a:lnSpc>
                <a:spcPts val="3548"/>
              </a:lnSpc>
              <a:spcBef>
                <a:spcPct val="0"/>
              </a:spcBef>
            </a:pPr>
            <a:r>
              <a:rPr lang="en-US" sz="253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parques en urbanización Perú [Internet]. Lima: Andina; 2025 May 19</a:t>
            </a:r>
          </a:p>
          <a:p>
            <a:pPr algn="ctr">
              <a:lnSpc>
                <a:spcPts val="3548"/>
              </a:lnSpc>
              <a:spcBef>
                <a:spcPct val="0"/>
              </a:spcBef>
            </a:pPr>
            <a:r>
              <a:rPr lang="en-US" sz="253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[cited 2026 Sep 30]. Available from:</a:t>
            </a:r>
          </a:p>
          <a:p>
            <a:pPr algn="ctr">
              <a:lnSpc>
                <a:spcPts val="3548"/>
              </a:lnSpc>
              <a:spcBef>
                <a:spcPct val="0"/>
              </a:spcBef>
            </a:pPr>
            <a:r>
              <a:rPr lang="en-US" sz="253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https://andina.pe/agencia/noticia-san-martin-porres-inauguran-dos-parques-urbanizacion-peru-1030192.aspx</a:t>
            </a:r>
          </a:p>
          <a:p>
            <a:pPr algn="ctr">
              <a:lnSpc>
                <a:spcPts val="3548"/>
              </a:lnSpc>
              <a:spcBef>
                <a:spcPct val="0"/>
              </a:spcBef>
            </a:pPr>
          </a:p>
          <a:p>
            <a:pPr algn="ctr">
              <a:lnSpc>
                <a:spcPts val="3548"/>
              </a:lnSpc>
              <a:spcBef>
                <a:spcPct val="0"/>
              </a:spcBef>
            </a:pPr>
            <a:r>
              <a:rPr lang="en-US" sz="253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[3] Rain Bird Corporation. ARC Series Smart Irrigation Controllers [Internet].</a:t>
            </a:r>
          </a:p>
          <a:p>
            <a:pPr algn="ctr">
              <a:lnSpc>
                <a:spcPts val="3548"/>
              </a:lnSpc>
              <a:spcBef>
                <a:spcPct val="0"/>
              </a:spcBef>
            </a:pPr>
            <a:r>
              <a:rPr lang="en-US" sz="253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Azusa (CA): Rain Bird Corporation; [cited 2026 Sep 30]. Available from:</a:t>
            </a:r>
          </a:p>
          <a:p>
            <a:pPr algn="ctr">
              <a:lnSpc>
                <a:spcPts val="3548"/>
              </a:lnSpc>
              <a:spcBef>
                <a:spcPct val="0"/>
              </a:spcBef>
            </a:pPr>
            <a:r>
              <a:rPr lang="en-US" sz="253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https://www.rainbird.com/products/arc-series-smart-irrigation-controllers</a:t>
            </a:r>
          </a:p>
          <a:p>
            <a:pPr algn="ctr">
              <a:lnSpc>
                <a:spcPts val="3548"/>
              </a:lnSpc>
              <a:spcBef>
                <a:spcPct val="0"/>
              </a:spcBef>
            </a:pPr>
          </a:p>
          <a:p>
            <a:pPr algn="ctr">
              <a:lnSpc>
                <a:spcPts val="3548"/>
              </a:lnSpc>
              <a:spcBef>
                <a:spcPct val="0"/>
              </a:spcBef>
            </a:pPr>
            <a:r>
              <a:rPr lang="en-US" sz="253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[4] Rachio. Rachio Sprinkler Controller Models &amp; Tech Specs [Internet].</a:t>
            </a:r>
          </a:p>
          <a:p>
            <a:pPr algn="ctr">
              <a:lnSpc>
                <a:spcPts val="3548"/>
              </a:lnSpc>
              <a:spcBef>
                <a:spcPct val="0"/>
              </a:spcBef>
            </a:pPr>
            <a:r>
              <a:rPr lang="en-US" sz="253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Denver (CO): Rachio; updated 2026 Apr 13 [cited 2026 Sep 30].</a:t>
            </a:r>
          </a:p>
          <a:p>
            <a:pPr algn="ctr">
              <a:lnSpc>
                <a:spcPts val="3548"/>
              </a:lnSpc>
              <a:spcBef>
                <a:spcPct val="0"/>
              </a:spcBef>
            </a:pPr>
            <a:r>
              <a:rPr lang="en-US" sz="253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Available from:</a:t>
            </a:r>
          </a:p>
          <a:p>
            <a:pPr algn="ctr">
              <a:lnSpc>
                <a:spcPts val="3548"/>
              </a:lnSpc>
              <a:spcBef>
                <a:spcPct val="0"/>
              </a:spcBef>
            </a:pPr>
            <a:r>
              <a:rPr lang="en-US" sz="253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https://support.rachio.com/en_us/rachio-sprinkler-controller-models-tech-specs-HyfTxF0YY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DAHWoaj6iaE</dc:identifier>
  <dcterms:modified xsi:type="dcterms:W3CDTF">2011-08-01T06:04:30Z</dcterms:modified>
  <cp:revision>1</cp:revision>
  <dc:title>Presentación proyecto de negocio formas orgánicas profesional azul y beis</dc:title>
</cp:coreProperties>
</file>